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30" r:id="rId2"/>
    <p:sldId id="335" r:id="rId3"/>
    <p:sldId id="294" r:id="rId4"/>
    <p:sldId id="336" r:id="rId5"/>
    <p:sldId id="337" r:id="rId6"/>
    <p:sldId id="338" r:id="rId7"/>
    <p:sldId id="339" r:id="rId8"/>
    <p:sldId id="344" r:id="rId9"/>
    <p:sldId id="350" r:id="rId10"/>
    <p:sldId id="349" r:id="rId11"/>
  </p:sldIdLst>
  <p:sldSz cx="9144000" cy="6858000" type="screen4x3"/>
  <p:notesSz cx="6811963" cy="9942513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E3C2D9-3E93-476C-BD29-AB3FCF6DF8E8}">
          <p14:sldIdLst>
            <p14:sldId id="330"/>
            <p14:sldId id="335"/>
            <p14:sldId id="294"/>
            <p14:sldId id="336"/>
            <p14:sldId id="337"/>
            <p14:sldId id="338"/>
            <p14:sldId id="339"/>
            <p14:sldId id="344"/>
            <p14:sldId id="350"/>
            <p14:sldId id="3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931"/>
    <a:srgbClr val="FF6600"/>
    <a:srgbClr val="8FB63E"/>
    <a:srgbClr val="679E9B"/>
    <a:srgbClr val="6B1B4B"/>
    <a:srgbClr val="007C91"/>
    <a:srgbClr val="00B3F0"/>
    <a:srgbClr val="D09910"/>
    <a:srgbClr val="00594D"/>
    <a:srgbClr val="9AD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64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1830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3474" y="102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15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949DE58-9009-458A-888E-70D8B4D9E6C5}" type="datetime1">
              <a:rPr lang="de-DE" smtClean="0"/>
              <a:t>10.08.2026</a:t>
            </a:fld>
            <a:endParaRPr lang="de-DE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15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C7157A5-FB16-48B7-B216-6660B3138BE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6848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15" y="2"/>
            <a:ext cx="2951148" cy="496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ADD17A5-6220-4BFA-A2E0-AB16612ADCA3}" type="datetime1">
              <a:rPr lang="de-DE" smtClean="0"/>
              <a:t>10.08.2026</a:t>
            </a:fld>
            <a:endParaRPr lang="de-DE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47" y="4722047"/>
            <a:ext cx="4995872" cy="4474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15" y="9445712"/>
            <a:ext cx="2951148" cy="49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71" tIns="46635" rIns="93271" bIns="466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CB6D199-8F06-4346-AE65-F23F023EED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511830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309B037B-1171-4B4E-95EE-EC29C5AA3BE7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434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9E2AA134-184E-4278-AA5E-319E0625F0DB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80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Meine </a:t>
            </a:r>
            <a:r>
              <a:rPr lang="en-US" dirty="0" err="1"/>
              <a:t>Bachelorarbeit</a:t>
            </a:r>
            <a:r>
              <a:rPr lang="en-US" dirty="0"/>
              <a:t> </a:t>
            </a:r>
            <a:r>
              <a:rPr lang="en-US" dirty="0" err="1"/>
              <a:t>beschäftigt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KI-</a:t>
            </a:r>
            <a:r>
              <a:rPr lang="en-US" dirty="0" err="1"/>
              <a:t>gestützten</a:t>
            </a:r>
            <a:r>
              <a:rPr lang="en-US" dirty="0"/>
              <a:t> Monitoring-</a:t>
            </a:r>
            <a:r>
              <a:rPr lang="en-US" dirty="0" err="1"/>
              <a:t>Systemen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Informationssysteme</a:t>
            </a:r>
            <a:r>
              <a:rPr lang="en-US" dirty="0"/>
              <a:t>.</a:t>
            </a:r>
          </a:p>
          <a:p>
            <a:r>
              <a:rPr lang="en-US" dirty="0"/>
              <a:t>Durch die </a:t>
            </a:r>
            <a:r>
              <a:rPr lang="en-US" dirty="0" err="1"/>
              <a:t>zunehmende</a:t>
            </a:r>
            <a:r>
              <a:rPr lang="en-US" dirty="0"/>
              <a:t> </a:t>
            </a:r>
            <a:r>
              <a:rPr lang="en-US" dirty="0" err="1"/>
              <a:t>Digitalisierung</a:t>
            </a:r>
            <a:r>
              <a:rPr lang="en-US" dirty="0"/>
              <a:t> </a:t>
            </a:r>
            <a:r>
              <a:rPr lang="en-US" dirty="0" err="1"/>
              <a:t>entstehen</a:t>
            </a:r>
            <a:r>
              <a:rPr lang="en-US" dirty="0"/>
              <a:t> </a:t>
            </a:r>
            <a:r>
              <a:rPr lang="en-US" dirty="0" err="1"/>
              <a:t>täglich</a:t>
            </a:r>
            <a:r>
              <a:rPr lang="en-US" dirty="0"/>
              <a:t> </a:t>
            </a:r>
            <a:r>
              <a:rPr lang="en-US" dirty="0" err="1"/>
              <a:t>enorme</a:t>
            </a:r>
            <a:r>
              <a:rPr lang="en-US" dirty="0"/>
              <a:t> Mengen an </a:t>
            </a:r>
            <a:r>
              <a:rPr lang="en-US" dirty="0" err="1"/>
              <a:t>Nutzerdaten</a:t>
            </a:r>
            <a:r>
              <a:rPr lang="en-US" dirty="0"/>
              <a:t>. </a:t>
            </a:r>
            <a:r>
              <a:rPr lang="en-US" dirty="0" err="1"/>
              <a:t>Plattformen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soziale</a:t>
            </a:r>
            <a:r>
              <a:rPr lang="en-US" dirty="0"/>
              <a:t> </a:t>
            </a:r>
            <a:r>
              <a:rPr lang="en-US" dirty="0" err="1"/>
              <a:t>Netzwerke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Suchmaschinen</a:t>
            </a:r>
            <a:r>
              <a:rPr lang="en-US" dirty="0"/>
              <a:t> </a:t>
            </a:r>
            <a:r>
              <a:rPr lang="en-US" dirty="0" err="1"/>
              <a:t>erfassen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kontinuierlich</a:t>
            </a:r>
            <a:r>
              <a:rPr lang="en-US" dirty="0"/>
              <a:t> und </a:t>
            </a:r>
            <a:r>
              <a:rPr lang="en-US" dirty="0" err="1"/>
              <a:t>nutzen</a:t>
            </a:r>
            <a:r>
              <a:rPr lang="en-US" dirty="0"/>
              <a:t> KI-</a:t>
            </a:r>
            <a:r>
              <a:rPr lang="en-US" dirty="0" err="1"/>
              <a:t>Verfahren</a:t>
            </a:r>
            <a:r>
              <a:rPr lang="en-US" dirty="0"/>
              <a:t>, um </a:t>
            </a:r>
            <a:r>
              <a:rPr lang="en-US" dirty="0" err="1"/>
              <a:t>Nutzerverhalten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analysieren</a:t>
            </a:r>
            <a:r>
              <a:rPr lang="en-US" dirty="0"/>
              <a:t>, </a:t>
            </a:r>
            <a:r>
              <a:rPr lang="en-US" dirty="0" err="1"/>
              <a:t>vorherzusagen</a:t>
            </a:r>
            <a:r>
              <a:rPr lang="en-US" dirty="0"/>
              <a:t> und </a:t>
            </a:r>
            <a:r>
              <a:rPr lang="en-US" dirty="0" err="1"/>
              <a:t>teilweise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beeinflussen</a:t>
            </a:r>
            <a:r>
              <a:rPr lang="en-US" dirty="0"/>
              <a:t>.</a:t>
            </a:r>
          </a:p>
          <a:p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ergeben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nicht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technische</a:t>
            </a:r>
            <a:r>
              <a:rPr lang="en-US" dirty="0"/>
              <a:t> </a:t>
            </a:r>
            <a:r>
              <a:rPr lang="en-US" dirty="0" err="1"/>
              <a:t>Fragestellungen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gesellschaftliche</a:t>
            </a:r>
            <a:r>
              <a:rPr lang="en-US" dirty="0"/>
              <a:t>, </a:t>
            </a:r>
            <a:r>
              <a:rPr lang="en-US" dirty="0" err="1"/>
              <a:t>wirtschaftliche</a:t>
            </a:r>
            <a:r>
              <a:rPr lang="en-US" dirty="0"/>
              <a:t> und </a:t>
            </a:r>
            <a:r>
              <a:rPr lang="en-US" dirty="0" err="1"/>
              <a:t>ethische</a:t>
            </a:r>
            <a:r>
              <a:rPr lang="en-US" dirty="0"/>
              <a:t> </a:t>
            </a:r>
            <a:r>
              <a:rPr lang="en-US" dirty="0" err="1"/>
              <a:t>Herausforderungen</a:t>
            </a:r>
            <a:r>
              <a:rPr lang="en-US" dirty="0"/>
              <a:t>.</a:t>
            </a:r>
          </a:p>
          <a:p>
            <a:r>
              <a:rPr lang="en-US" dirty="0"/>
              <a:t>Vor </a:t>
            </a:r>
            <a:r>
              <a:rPr lang="en-US" dirty="0" err="1"/>
              <a:t>diesem</a:t>
            </a:r>
            <a:r>
              <a:rPr lang="en-US" dirty="0"/>
              <a:t> </a:t>
            </a:r>
            <a:r>
              <a:rPr lang="en-US" dirty="0" err="1"/>
              <a:t>Hintergrund</a:t>
            </a:r>
            <a:r>
              <a:rPr lang="en-US" dirty="0"/>
              <a:t> </a:t>
            </a:r>
            <a:r>
              <a:rPr lang="en-US" dirty="0" err="1"/>
              <a:t>untersucht</a:t>
            </a:r>
            <a:r>
              <a:rPr lang="en-US" dirty="0"/>
              <a:t> </a:t>
            </a:r>
            <a:r>
              <a:rPr lang="en-US" dirty="0" err="1"/>
              <a:t>meine</a:t>
            </a:r>
            <a:r>
              <a:rPr lang="en-US" dirty="0"/>
              <a:t> Arbeit die </a:t>
            </a:r>
            <a:r>
              <a:rPr lang="en-US" dirty="0" err="1"/>
              <a:t>Forschungsfrage</a:t>
            </a:r>
            <a:r>
              <a:rPr lang="en-US" dirty="0"/>
              <a:t>:</a:t>
            </a:r>
          </a:p>
          <a:p>
            <a:r>
              <a:rPr lang="en-US" i="1" dirty="0"/>
              <a:t>„Wie </a:t>
            </a:r>
            <a:r>
              <a:rPr lang="en-US" i="1" dirty="0" err="1"/>
              <a:t>funktionieren</a:t>
            </a:r>
            <a:r>
              <a:rPr lang="en-US" i="1" dirty="0"/>
              <a:t> KI-</a:t>
            </a:r>
            <a:r>
              <a:rPr lang="en-US" i="1" dirty="0" err="1"/>
              <a:t>gestützte</a:t>
            </a:r>
            <a:r>
              <a:rPr lang="en-US" i="1" dirty="0"/>
              <a:t> Monitoring-Systeme </a:t>
            </a:r>
            <a:r>
              <a:rPr lang="en-US" i="1" dirty="0" err="1"/>
              <a:t>als</a:t>
            </a:r>
            <a:r>
              <a:rPr lang="en-US" i="1" dirty="0"/>
              <a:t> </a:t>
            </a:r>
            <a:r>
              <a:rPr lang="en-US" i="1" dirty="0" err="1"/>
              <a:t>digitale</a:t>
            </a:r>
            <a:r>
              <a:rPr lang="en-US" i="1" dirty="0"/>
              <a:t> </a:t>
            </a:r>
            <a:r>
              <a:rPr lang="en-US" i="1" dirty="0" err="1"/>
              <a:t>Informationssysteme</a:t>
            </a:r>
            <a:r>
              <a:rPr lang="en-US" i="1" dirty="0"/>
              <a:t> und </a:t>
            </a:r>
            <a:r>
              <a:rPr lang="en-US" i="1" dirty="0" err="1"/>
              <a:t>inwiefern</a:t>
            </a:r>
            <a:r>
              <a:rPr lang="en-US" i="1" dirty="0"/>
              <a:t> </a:t>
            </a:r>
            <a:r>
              <a:rPr lang="en-US" i="1" dirty="0" err="1"/>
              <a:t>ermöglichen</a:t>
            </a:r>
            <a:r>
              <a:rPr lang="en-US" i="1" dirty="0"/>
              <a:t> </a:t>
            </a:r>
            <a:r>
              <a:rPr lang="en-US" i="1" dirty="0" err="1"/>
              <a:t>sie</a:t>
            </a:r>
            <a:r>
              <a:rPr lang="en-US" i="1" dirty="0"/>
              <a:t> </a:t>
            </a:r>
            <a:r>
              <a:rPr lang="en-US" i="1" dirty="0" err="1"/>
              <a:t>datenbasierte</a:t>
            </a:r>
            <a:r>
              <a:rPr lang="en-US" i="1" dirty="0"/>
              <a:t> </a:t>
            </a:r>
            <a:r>
              <a:rPr lang="en-US" i="1" dirty="0" err="1"/>
              <a:t>Analyse</a:t>
            </a:r>
            <a:r>
              <a:rPr lang="en-US" i="1" dirty="0"/>
              <a:t> und </a:t>
            </a:r>
            <a:r>
              <a:rPr lang="en-US" i="1" dirty="0" err="1"/>
              <a:t>Beeinflussung</a:t>
            </a:r>
            <a:r>
              <a:rPr lang="en-US" i="1" dirty="0"/>
              <a:t> </a:t>
            </a:r>
            <a:r>
              <a:rPr lang="en-US" i="1" dirty="0" err="1"/>
              <a:t>menschlichen</a:t>
            </a:r>
            <a:r>
              <a:rPr lang="en-US" i="1" dirty="0"/>
              <a:t> </a:t>
            </a:r>
            <a:r>
              <a:rPr lang="en-US" i="1" dirty="0" err="1"/>
              <a:t>Verhaltens</a:t>
            </a:r>
            <a:r>
              <a:rPr lang="en-US" i="1" dirty="0"/>
              <a:t>?“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A67C3C0-3208-494D-977C-467FA4599161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208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Zur </a:t>
            </a:r>
            <a:r>
              <a:rPr lang="en-US" dirty="0" err="1"/>
              <a:t>Beantwortung</a:t>
            </a:r>
            <a:r>
              <a:rPr lang="en-US" dirty="0"/>
              <a:t> der </a:t>
            </a:r>
            <a:r>
              <a:rPr lang="en-US" dirty="0" err="1"/>
              <a:t>Forschungsfrage</a:t>
            </a:r>
            <a:r>
              <a:rPr lang="en-US" dirty="0"/>
              <a:t>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b="1" dirty="0" err="1"/>
              <a:t>literaturbasierte</a:t>
            </a:r>
            <a:r>
              <a:rPr lang="en-US" b="1" dirty="0"/>
              <a:t> </a:t>
            </a:r>
            <a:r>
              <a:rPr lang="en-US" b="1" dirty="0" err="1"/>
              <a:t>Bachelorarbeit</a:t>
            </a:r>
            <a:r>
              <a:rPr lang="en-US" dirty="0"/>
              <a:t> </a:t>
            </a:r>
            <a:r>
              <a:rPr lang="en-US" dirty="0" err="1"/>
              <a:t>durchgeführt</a:t>
            </a:r>
            <a:r>
              <a:rPr lang="en-US" dirty="0"/>
              <a:t>. Ziel war es, den </a:t>
            </a:r>
            <a:r>
              <a:rPr lang="en-US" dirty="0" err="1"/>
              <a:t>aktuellen</a:t>
            </a:r>
            <a:r>
              <a:rPr lang="en-US" dirty="0"/>
              <a:t> </a:t>
            </a:r>
            <a:r>
              <a:rPr lang="en-US" dirty="0" err="1"/>
              <a:t>wissenschaftlichen</a:t>
            </a:r>
            <a:r>
              <a:rPr lang="en-US" dirty="0"/>
              <a:t> </a:t>
            </a:r>
            <a:r>
              <a:rPr lang="en-US" dirty="0" err="1"/>
              <a:t>Forschungsstand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KI-</a:t>
            </a:r>
            <a:r>
              <a:rPr lang="en-US" dirty="0" err="1"/>
              <a:t>gestützten</a:t>
            </a:r>
            <a:r>
              <a:rPr lang="en-US" dirty="0"/>
              <a:t> Monitoring-</a:t>
            </a:r>
            <a:r>
              <a:rPr lang="en-US" dirty="0" err="1"/>
              <a:t>Systemen</a:t>
            </a:r>
            <a:r>
              <a:rPr lang="en-US" dirty="0"/>
              <a:t> </a:t>
            </a:r>
            <a:r>
              <a:rPr lang="en-US" dirty="0" err="1"/>
              <a:t>systematisch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analysieren</a:t>
            </a:r>
            <a:r>
              <a:rPr lang="en-US" dirty="0"/>
              <a:t> und </a:t>
            </a:r>
            <a:r>
              <a:rPr lang="en-US" dirty="0" err="1"/>
              <a:t>zusammenzuführen</a:t>
            </a:r>
            <a:r>
              <a:rPr lang="en-US" dirty="0"/>
              <a:t>.</a:t>
            </a:r>
          </a:p>
          <a:p>
            <a:r>
              <a:rPr lang="en-US" dirty="0"/>
              <a:t>Die </a:t>
            </a:r>
            <a:r>
              <a:rPr lang="en-US" dirty="0" err="1"/>
              <a:t>Literaturrecherche</a:t>
            </a:r>
            <a:r>
              <a:rPr lang="en-US" dirty="0"/>
              <a:t> </a:t>
            </a:r>
            <a:r>
              <a:rPr lang="en-US" dirty="0" err="1"/>
              <a:t>erfolgte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wissenschaftliche</a:t>
            </a:r>
            <a:r>
              <a:rPr lang="en-US" dirty="0"/>
              <a:t> </a:t>
            </a:r>
            <a:r>
              <a:rPr lang="en-US" dirty="0" err="1"/>
              <a:t>Datenbanken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b="1" dirty="0"/>
              <a:t>Google Scholar, SpringerLink, IEEE Xplore, ACM Digital Library und Web of Science</a:t>
            </a:r>
            <a:r>
              <a:rPr lang="en-US" dirty="0"/>
              <a:t>.</a:t>
            </a:r>
          </a:p>
          <a:p>
            <a:r>
              <a:rPr lang="en-US" dirty="0"/>
              <a:t>Die </a:t>
            </a:r>
            <a:r>
              <a:rPr lang="en-US" dirty="0" err="1"/>
              <a:t>Auswahl</a:t>
            </a:r>
            <a:r>
              <a:rPr lang="en-US" dirty="0"/>
              <a:t> der </a:t>
            </a:r>
            <a:r>
              <a:rPr lang="en-US" dirty="0" err="1"/>
              <a:t>Quellen</a:t>
            </a:r>
            <a:r>
              <a:rPr lang="en-US" dirty="0"/>
              <a:t> </a:t>
            </a:r>
            <a:r>
              <a:rPr lang="en-US" dirty="0" err="1"/>
              <a:t>orientierte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an </a:t>
            </a:r>
            <a:r>
              <a:rPr lang="en-US" dirty="0" err="1"/>
              <a:t>definierten</a:t>
            </a:r>
            <a:r>
              <a:rPr lang="en-US" dirty="0"/>
              <a:t> </a:t>
            </a:r>
            <a:r>
              <a:rPr lang="en-US" dirty="0" err="1"/>
              <a:t>Kriterien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b="1" dirty="0" err="1"/>
              <a:t>wissenschaftlicher</a:t>
            </a:r>
            <a:r>
              <a:rPr lang="en-US" b="1" dirty="0"/>
              <a:t> </a:t>
            </a:r>
            <a:r>
              <a:rPr lang="en-US" b="1" dirty="0" err="1"/>
              <a:t>Qualität</a:t>
            </a:r>
            <a:r>
              <a:rPr lang="en-US" b="1" dirty="0"/>
              <a:t>, </a:t>
            </a:r>
            <a:r>
              <a:rPr lang="en-US" b="1" dirty="0" err="1"/>
              <a:t>thematischer</a:t>
            </a:r>
            <a:r>
              <a:rPr lang="en-US" b="1" dirty="0"/>
              <a:t> </a:t>
            </a:r>
            <a:r>
              <a:rPr lang="en-US" b="1" dirty="0" err="1"/>
              <a:t>Relevanz</a:t>
            </a:r>
            <a:r>
              <a:rPr lang="en-US" b="1" dirty="0"/>
              <a:t>, </a:t>
            </a:r>
            <a:r>
              <a:rPr lang="en-US" b="1" dirty="0" err="1"/>
              <a:t>Aktualität</a:t>
            </a:r>
            <a:r>
              <a:rPr lang="en-US" b="1" dirty="0"/>
              <a:t> und </a:t>
            </a:r>
            <a:r>
              <a:rPr lang="en-US" b="1" dirty="0" err="1"/>
              <a:t>methodischer</a:t>
            </a:r>
            <a:r>
              <a:rPr lang="en-US" b="1" dirty="0"/>
              <a:t> </a:t>
            </a:r>
            <a:r>
              <a:rPr lang="en-US" b="1" dirty="0" err="1"/>
              <a:t>Transparenz</a:t>
            </a:r>
            <a:r>
              <a:rPr lang="en-US" dirty="0"/>
              <a:t>.</a:t>
            </a:r>
          </a:p>
          <a:p>
            <a:r>
              <a:rPr lang="en-US" dirty="0" err="1"/>
              <a:t>Anschließend</a:t>
            </a:r>
            <a:r>
              <a:rPr lang="en-US" dirty="0"/>
              <a:t> </a:t>
            </a:r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identifizierten</a:t>
            </a:r>
            <a:r>
              <a:rPr lang="en-US" dirty="0"/>
              <a:t> </a:t>
            </a:r>
            <a:r>
              <a:rPr lang="en-US" dirty="0" err="1"/>
              <a:t>Quellen</a:t>
            </a:r>
            <a:r>
              <a:rPr lang="en-US" dirty="0"/>
              <a:t> </a:t>
            </a:r>
            <a:r>
              <a:rPr lang="en-US" dirty="0" err="1"/>
              <a:t>thematisch</a:t>
            </a:r>
            <a:r>
              <a:rPr lang="en-US" dirty="0"/>
              <a:t> </a:t>
            </a:r>
            <a:r>
              <a:rPr lang="en-US" dirty="0" err="1"/>
              <a:t>ausgewertet</a:t>
            </a:r>
            <a:r>
              <a:rPr lang="en-US" dirty="0"/>
              <a:t> und </a:t>
            </a:r>
            <a:r>
              <a:rPr lang="en-US" dirty="0" err="1"/>
              <a:t>zusammengeführt</a:t>
            </a:r>
            <a:r>
              <a:rPr lang="en-US" dirty="0"/>
              <a:t>, um die </a:t>
            </a:r>
            <a:r>
              <a:rPr lang="en-US" dirty="0" err="1"/>
              <a:t>Forschungsfrage</a:t>
            </a:r>
            <a:r>
              <a:rPr lang="en-US" dirty="0"/>
              <a:t> auf Basis </a:t>
            </a:r>
            <a:r>
              <a:rPr lang="en-US" dirty="0" err="1"/>
              <a:t>bestehender</a:t>
            </a:r>
            <a:r>
              <a:rPr lang="en-US" dirty="0"/>
              <a:t> </a:t>
            </a:r>
            <a:r>
              <a:rPr lang="en-US" dirty="0" err="1"/>
              <a:t>wissenschaftlicher</a:t>
            </a:r>
            <a:r>
              <a:rPr lang="en-US" dirty="0"/>
              <a:t> </a:t>
            </a:r>
            <a:r>
              <a:rPr lang="en-US" dirty="0" err="1"/>
              <a:t>Erkenntnisse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beantworten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37809EA-5D70-480B-AFAB-6FC03AE99AE1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71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Kern KI-</a:t>
            </a:r>
            <a:r>
              <a:rPr lang="en-US" dirty="0" err="1"/>
              <a:t>gestützter</a:t>
            </a:r>
            <a:r>
              <a:rPr lang="en-US" dirty="0"/>
              <a:t> Monitoring-Systeme </a:t>
            </a:r>
            <a:r>
              <a:rPr lang="en-US" dirty="0" err="1"/>
              <a:t>besteht</a:t>
            </a:r>
            <a:r>
              <a:rPr lang="en-US" dirty="0"/>
              <a:t> in der </a:t>
            </a:r>
            <a:r>
              <a:rPr lang="en-US" dirty="0" err="1"/>
              <a:t>Verarbeitung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Mengen </a:t>
            </a:r>
            <a:r>
              <a:rPr lang="en-US" dirty="0" err="1"/>
              <a:t>digitaler</a:t>
            </a:r>
            <a:r>
              <a:rPr lang="en-US" dirty="0"/>
              <a:t> </a:t>
            </a:r>
            <a:r>
              <a:rPr lang="en-US" dirty="0" err="1"/>
              <a:t>Nutzungsdaten</a:t>
            </a:r>
            <a:r>
              <a:rPr lang="en-US" dirty="0"/>
              <a:t>.</a:t>
            </a:r>
          </a:p>
          <a:p>
            <a:r>
              <a:rPr lang="en-US" dirty="0" err="1"/>
              <a:t>Zunächst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unterschiedlichen</a:t>
            </a:r>
            <a:r>
              <a:rPr lang="en-US" dirty="0"/>
              <a:t> </a:t>
            </a:r>
            <a:r>
              <a:rPr lang="en-US" dirty="0" err="1"/>
              <a:t>Quellen</a:t>
            </a:r>
            <a:r>
              <a:rPr lang="en-US" dirty="0"/>
              <a:t>, </a:t>
            </a:r>
            <a:r>
              <a:rPr lang="en-US" dirty="0" err="1"/>
              <a:t>beispielsweise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Klicks, </a:t>
            </a:r>
            <a:r>
              <a:rPr lang="en-US" dirty="0" err="1"/>
              <a:t>Suchanfragen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Interaktionen</a:t>
            </a:r>
            <a:r>
              <a:rPr lang="en-US" dirty="0"/>
              <a:t> auf </a:t>
            </a:r>
            <a:r>
              <a:rPr lang="en-US" dirty="0" err="1"/>
              <a:t>Plattformen</a:t>
            </a:r>
            <a:r>
              <a:rPr lang="en-US" dirty="0"/>
              <a:t>, </a:t>
            </a:r>
            <a:r>
              <a:rPr lang="en-US" dirty="0" err="1"/>
              <a:t>erfasst</a:t>
            </a:r>
            <a:r>
              <a:rPr lang="en-US" dirty="0"/>
              <a:t>.</a:t>
            </a:r>
          </a:p>
          <a:p>
            <a:r>
              <a:rPr lang="en-US" dirty="0" err="1"/>
              <a:t>Anschließend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aufbereitet</a:t>
            </a:r>
            <a:r>
              <a:rPr lang="en-US" dirty="0"/>
              <a:t> und in </a:t>
            </a:r>
            <a:r>
              <a:rPr lang="en-US" dirty="0" err="1"/>
              <a:t>ein</a:t>
            </a:r>
            <a:r>
              <a:rPr lang="en-US" dirty="0"/>
              <a:t> für Machine-Learning-</a:t>
            </a:r>
            <a:r>
              <a:rPr lang="en-US" dirty="0" err="1"/>
              <a:t>Verfahren</a:t>
            </a:r>
            <a:r>
              <a:rPr lang="en-US" dirty="0"/>
              <a:t> </a:t>
            </a:r>
            <a:r>
              <a:rPr lang="en-US" dirty="0" err="1"/>
              <a:t>nutzbares</a:t>
            </a:r>
            <a:r>
              <a:rPr lang="en-US" dirty="0"/>
              <a:t> Format </a:t>
            </a:r>
            <a:r>
              <a:rPr lang="en-US" dirty="0" err="1"/>
              <a:t>überführt</a:t>
            </a:r>
            <a:r>
              <a:rPr lang="en-US" dirty="0"/>
              <a:t>.</a:t>
            </a:r>
          </a:p>
          <a:p>
            <a:r>
              <a:rPr lang="en-US" dirty="0" err="1"/>
              <a:t>Mithilfe</a:t>
            </a:r>
            <a:r>
              <a:rPr lang="en-US" dirty="0"/>
              <a:t> </a:t>
            </a:r>
            <a:r>
              <a:rPr lang="en-US" dirty="0" err="1"/>
              <a:t>verschiedener</a:t>
            </a:r>
            <a:r>
              <a:rPr lang="en-US" dirty="0"/>
              <a:t> </a:t>
            </a:r>
            <a:r>
              <a:rPr lang="en-US" dirty="0" err="1"/>
              <a:t>Analyseverfahren</a:t>
            </a:r>
            <a:r>
              <a:rPr lang="en-US" dirty="0"/>
              <a:t> </a:t>
            </a:r>
            <a:r>
              <a:rPr lang="en-US" dirty="0" err="1"/>
              <a:t>erkennt</a:t>
            </a:r>
            <a:r>
              <a:rPr lang="en-US" dirty="0"/>
              <a:t> das System Muster, </a:t>
            </a:r>
            <a:r>
              <a:rPr lang="en-US" dirty="0" err="1"/>
              <a:t>erstellt</a:t>
            </a:r>
            <a:r>
              <a:rPr lang="en-US" dirty="0"/>
              <a:t> </a:t>
            </a:r>
            <a:r>
              <a:rPr lang="en-US" dirty="0" err="1"/>
              <a:t>Prognosen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klassifiziert</a:t>
            </a:r>
            <a:r>
              <a:rPr lang="en-US" dirty="0"/>
              <a:t> </a:t>
            </a:r>
            <a:r>
              <a:rPr lang="en-US" dirty="0" err="1"/>
              <a:t>Nutzer</a:t>
            </a:r>
            <a:r>
              <a:rPr lang="en-US" dirty="0"/>
              <a:t> </a:t>
            </a:r>
            <a:r>
              <a:rPr lang="en-US" dirty="0" err="1"/>
              <a:t>anhand</a:t>
            </a:r>
            <a:r>
              <a:rPr lang="en-US" dirty="0"/>
              <a:t> </a:t>
            </a:r>
            <a:r>
              <a:rPr lang="en-US" dirty="0" err="1"/>
              <a:t>bestimmter</a:t>
            </a:r>
            <a:r>
              <a:rPr lang="en-US" dirty="0"/>
              <a:t> </a:t>
            </a:r>
            <a:r>
              <a:rPr lang="en-US" dirty="0" err="1"/>
              <a:t>Merkmale</a:t>
            </a:r>
            <a:r>
              <a:rPr lang="en-US" dirty="0"/>
              <a:t>.</a:t>
            </a:r>
          </a:p>
          <a:p>
            <a:r>
              <a:rPr lang="en-US" dirty="0"/>
              <a:t>Die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bilden</a:t>
            </a:r>
            <a:r>
              <a:rPr lang="en-US" dirty="0"/>
              <a:t> </a:t>
            </a:r>
            <a:r>
              <a:rPr lang="en-US" dirty="0" err="1"/>
              <a:t>anschließend</a:t>
            </a:r>
            <a:r>
              <a:rPr lang="en-US" dirty="0"/>
              <a:t> die </a:t>
            </a:r>
            <a:r>
              <a:rPr lang="en-US" dirty="0" err="1"/>
              <a:t>Grundlage</a:t>
            </a:r>
            <a:r>
              <a:rPr lang="en-US" dirty="0"/>
              <a:t> für </a:t>
            </a:r>
            <a:r>
              <a:rPr lang="en-US" dirty="0" err="1"/>
              <a:t>personalisierte</a:t>
            </a:r>
            <a:r>
              <a:rPr lang="en-US" dirty="0"/>
              <a:t> </a:t>
            </a:r>
            <a:r>
              <a:rPr lang="en-US" dirty="0" err="1"/>
              <a:t>Empfehlungen</a:t>
            </a:r>
            <a:r>
              <a:rPr lang="en-US" dirty="0"/>
              <a:t>, Rankings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algorithmische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.</a:t>
            </a:r>
          </a:p>
          <a:p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entsteht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kontinuierlicher</a:t>
            </a:r>
            <a:r>
              <a:rPr lang="en-US" dirty="0"/>
              <a:t> </a:t>
            </a:r>
            <a:r>
              <a:rPr lang="en-US" dirty="0" err="1"/>
              <a:t>Kreislauf</a:t>
            </a:r>
            <a:r>
              <a:rPr lang="en-US" dirty="0"/>
              <a:t>, </a:t>
            </a:r>
            <a:r>
              <a:rPr lang="en-US" dirty="0" err="1"/>
              <a:t>bei</a:t>
            </a:r>
            <a:r>
              <a:rPr lang="en-US" dirty="0"/>
              <a:t> dem </a:t>
            </a:r>
            <a:r>
              <a:rPr lang="en-US" dirty="0" err="1"/>
              <a:t>jede</a:t>
            </a:r>
            <a:r>
              <a:rPr lang="en-US" dirty="0"/>
              <a:t> </a:t>
            </a:r>
            <a:r>
              <a:rPr lang="en-US" dirty="0" err="1"/>
              <a:t>neue</a:t>
            </a:r>
            <a:r>
              <a:rPr lang="en-US" dirty="0"/>
              <a:t> </a:t>
            </a:r>
            <a:r>
              <a:rPr lang="en-US" dirty="0" err="1"/>
              <a:t>Nutzerinteraktion</a:t>
            </a:r>
            <a:r>
              <a:rPr lang="en-US" dirty="0"/>
              <a:t> </a:t>
            </a:r>
            <a:r>
              <a:rPr lang="en-US" dirty="0" err="1"/>
              <a:t>wiederum</a:t>
            </a:r>
            <a:r>
              <a:rPr lang="en-US" dirty="0"/>
              <a:t> </a:t>
            </a:r>
            <a:r>
              <a:rPr lang="en-US" dirty="0" err="1"/>
              <a:t>neue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erzeugt</a:t>
            </a:r>
            <a:r>
              <a:rPr lang="en-US" dirty="0"/>
              <a:t> und das System </a:t>
            </a:r>
            <a:r>
              <a:rPr lang="en-US" dirty="0" err="1"/>
              <a:t>fortlaufend</a:t>
            </a:r>
            <a:r>
              <a:rPr lang="en-US" dirty="0"/>
              <a:t> </a:t>
            </a:r>
            <a:r>
              <a:rPr lang="en-US" dirty="0" err="1"/>
              <a:t>verbessert</a:t>
            </a:r>
            <a:r>
              <a:rPr lang="en-US" dirty="0"/>
              <a:t>. </a:t>
            </a:r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dieser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letztlich</a:t>
            </a:r>
            <a:r>
              <a:rPr lang="en-US" dirty="0"/>
              <a:t> die </a:t>
            </a:r>
            <a:r>
              <a:rPr lang="en-US" dirty="0" err="1"/>
              <a:t>datenbasierte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und </a:t>
            </a:r>
            <a:r>
              <a:rPr lang="en-US" dirty="0" err="1"/>
              <a:t>potenzielle</a:t>
            </a:r>
            <a:r>
              <a:rPr lang="en-US" dirty="0"/>
              <a:t> </a:t>
            </a:r>
            <a:r>
              <a:rPr lang="en-US" dirty="0" err="1"/>
              <a:t>Beeinflussung</a:t>
            </a:r>
            <a:r>
              <a:rPr lang="en-US" dirty="0"/>
              <a:t> </a:t>
            </a:r>
            <a:r>
              <a:rPr lang="en-US" dirty="0" err="1"/>
              <a:t>menschlichen</a:t>
            </a:r>
            <a:r>
              <a:rPr lang="en-US" dirty="0"/>
              <a:t> </a:t>
            </a:r>
            <a:r>
              <a:rPr lang="en-US" dirty="0" err="1"/>
              <a:t>Verhaltens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EBAFC0E8-8F3D-4A1B-96DE-C424147708E8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117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„Die </a:t>
            </a:r>
            <a:r>
              <a:rPr lang="en-US" dirty="0" err="1"/>
              <a:t>zentrale</a:t>
            </a:r>
            <a:r>
              <a:rPr lang="en-US" dirty="0"/>
              <a:t> </a:t>
            </a:r>
            <a:r>
              <a:rPr lang="en-US" dirty="0" err="1"/>
              <a:t>Erkenntnis</a:t>
            </a:r>
            <a:r>
              <a:rPr lang="en-US" dirty="0"/>
              <a:t> </a:t>
            </a:r>
            <a:r>
              <a:rPr lang="en-US" dirty="0" err="1"/>
              <a:t>meiner</a:t>
            </a:r>
            <a:r>
              <a:rPr lang="en-US" dirty="0"/>
              <a:t> Arbeit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KI-</a:t>
            </a:r>
            <a:r>
              <a:rPr lang="en-US" dirty="0" err="1"/>
              <a:t>gestützte</a:t>
            </a:r>
            <a:r>
              <a:rPr lang="en-US" dirty="0"/>
              <a:t> Monitoring-Systeme </a:t>
            </a:r>
            <a:r>
              <a:rPr lang="en-US" dirty="0" err="1"/>
              <a:t>Daten</a:t>
            </a:r>
            <a:r>
              <a:rPr lang="en-US" dirty="0"/>
              <a:t> nicht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erfassen</a:t>
            </a:r>
            <a:r>
              <a:rPr lang="en-US" dirty="0"/>
              <a:t>, </a:t>
            </a:r>
            <a:r>
              <a:rPr lang="en-US" dirty="0" err="1"/>
              <a:t>sondern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schrittweise</a:t>
            </a:r>
            <a:r>
              <a:rPr lang="en-US" dirty="0"/>
              <a:t> in </a:t>
            </a:r>
            <a:r>
              <a:rPr lang="en-US" dirty="0" err="1"/>
              <a:t>verwertbare</a:t>
            </a:r>
            <a:r>
              <a:rPr lang="en-US" dirty="0"/>
              <a:t> </a:t>
            </a:r>
            <a:r>
              <a:rPr lang="en-US" dirty="0" err="1"/>
              <a:t>Informationen</a:t>
            </a:r>
            <a:r>
              <a:rPr lang="en-US" dirty="0"/>
              <a:t> und </a:t>
            </a:r>
            <a:r>
              <a:rPr lang="en-US" dirty="0" err="1"/>
              <a:t>schließlich</a:t>
            </a:r>
            <a:r>
              <a:rPr lang="en-US" dirty="0"/>
              <a:t> in </a:t>
            </a:r>
            <a:r>
              <a:rPr lang="en-US" dirty="0" err="1"/>
              <a:t>Entscheidungsgrundlagen</a:t>
            </a:r>
            <a:r>
              <a:rPr lang="en-US" dirty="0"/>
              <a:t> </a:t>
            </a:r>
            <a:r>
              <a:rPr lang="en-US" dirty="0" err="1"/>
              <a:t>transformieren</a:t>
            </a:r>
            <a:r>
              <a:rPr lang="en-US" dirty="0"/>
              <a:t>.</a:t>
            </a:r>
          </a:p>
          <a:p>
            <a:r>
              <a:rPr lang="en-US" dirty="0"/>
              <a:t>Auf Basis der </a:t>
            </a:r>
            <a:r>
              <a:rPr lang="en-US" dirty="0" err="1"/>
              <a:t>erfassten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beispielsweise</a:t>
            </a:r>
            <a:r>
              <a:rPr lang="en-US" dirty="0"/>
              <a:t> </a:t>
            </a:r>
            <a:r>
              <a:rPr lang="en-US" dirty="0" err="1"/>
              <a:t>Nutzerprofile</a:t>
            </a:r>
            <a:r>
              <a:rPr lang="en-US" dirty="0"/>
              <a:t> </a:t>
            </a:r>
            <a:r>
              <a:rPr lang="en-US" dirty="0" err="1"/>
              <a:t>gebildet</a:t>
            </a:r>
            <a:r>
              <a:rPr lang="en-US" dirty="0"/>
              <a:t>, Muster </a:t>
            </a:r>
            <a:r>
              <a:rPr lang="en-US" dirty="0" err="1"/>
              <a:t>erkannt</a:t>
            </a:r>
            <a:r>
              <a:rPr lang="en-US" dirty="0"/>
              <a:t> und </a:t>
            </a:r>
            <a:r>
              <a:rPr lang="en-US" dirty="0" err="1"/>
              <a:t>Wahrscheinlichkeiten</a:t>
            </a:r>
            <a:r>
              <a:rPr lang="en-US" dirty="0"/>
              <a:t> für </a:t>
            </a:r>
            <a:r>
              <a:rPr lang="en-US" dirty="0" err="1"/>
              <a:t>zukünftiges</a:t>
            </a:r>
            <a:r>
              <a:rPr lang="en-US" dirty="0"/>
              <a:t> </a:t>
            </a:r>
            <a:r>
              <a:rPr lang="en-US" dirty="0" err="1"/>
              <a:t>Verhalten</a:t>
            </a:r>
            <a:r>
              <a:rPr lang="en-US" dirty="0"/>
              <a:t> </a:t>
            </a:r>
            <a:r>
              <a:rPr lang="en-US" dirty="0" err="1"/>
              <a:t>berechnet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Analyseergebnisse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anschließend</a:t>
            </a:r>
            <a:r>
              <a:rPr lang="en-US" dirty="0"/>
              <a:t> in Form von </a:t>
            </a:r>
            <a:r>
              <a:rPr lang="en-US" dirty="0" err="1"/>
              <a:t>Klassifikationen</a:t>
            </a:r>
            <a:r>
              <a:rPr lang="en-US" dirty="0"/>
              <a:t>, Scores, Rankings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Prognosen</a:t>
            </a:r>
            <a:r>
              <a:rPr lang="en-US" dirty="0"/>
              <a:t> </a:t>
            </a:r>
            <a:r>
              <a:rPr lang="en-US" dirty="0" err="1"/>
              <a:t>genutzt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r>
              <a:rPr lang="en-US" dirty="0" err="1"/>
              <a:t>Besonders</a:t>
            </a:r>
            <a:r>
              <a:rPr lang="en-US" dirty="0"/>
              <a:t> relevant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dieser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digitalen</a:t>
            </a:r>
            <a:r>
              <a:rPr lang="en-US" dirty="0"/>
              <a:t> </a:t>
            </a:r>
            <a:r>
              <a:rPr lang="en-US" dirty="0" err="1"/>
              <a:t>Plattformen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die </a:t>
            </a:r>
            <a:r>
              <a:rPr lang="en-US" dirty="0" err="1"/>
              <a:t>Ergebnisse</a:t>
            </a:r>
            <a:r>
              <a:rPr lang="en-US" dirty="0"/>
              <a:t> für </a:t>
            </a:r>
            <a:r>
              <a:rPr lang="en-US" dirty="0" err="1"/>
              <a:t>Personalisierung</a:t>
            </a:r>
            <a:r>
              <a:rPr lang="en-US" dirty="0"/>
              <a:t>, </a:t>
            </a:r>
            <a:r>
              <a:rPr lang="en-US" dirty="0" err="1"/>
              <a:t>Empfehlungen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die </a:t>
            </a:r>
            <a:r>
              <a:rPr lang="en-US" dirty="0" err="1"/>
              <a:t>Optimierung</a:t>
            </a:r>
            <a:r>
              <a:rPr lang="en-US" dirty="0"/>
              <a:t> von </a:t>
            </a:r>
            <a:r>
              <a:rPr lang="en-US" dirty="0" err="1"/>
              <a:t>Interaktionen</a:t>
            </a:r>
            <a:r>
              <a:rPr lang="en-US" dirty="0"/>
              <a:t> </a:t>
            </a:r>
            <a:r>
              <a:rPr lang="en-US" dirty="0" err="1"/>
              <a:t>eingesetzt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r>
              <a:rPr lang="en-US" dirty="0"/>
              <a:t>Dabei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</a:t>
            </a:r>
            <a:r>
              <a:rPr lang="en-US" dirty="0" err="1"/>
              <a:t>Differenzierung</a:t>
            </a:r>
            <a:r>
              <a:rPr lang="en-US" dirty="0"/>
              <a:t> </a:t>
            </a:r>
            <a:r>
              <a:rPr lang="en-US" dirty="0" err="1"/>
              <a:t>meiner</a:t>
            </a:r>
            <a:r>
              <a:rPr lang="en-US" dirty="0"/>
              <a:t> Arbeit: Ein Monitoring-System </a:t>
            </a:r>
            <a:r>
              <a:rPr lang="en-US" dirty="0" err="1"/>
              <a:t>beeinflusst</a:t>
            </a:r>
            <a:r>
              <a:rPr lang="en-US" dirty="0"/>
              <a:t> nicht </a:t>
            </a:r>
            <a:r>
              <a:rPr lang="en-US" dirty="0" err="1"/>
              <a:t>automatisch</a:t>
            </a:r>
            <a:r>
              <a:rPr lang="en-US" dirty="0"/>
              <a:t> das </a:t>
            </a:r>
            <a:r>
              <a:rPr lang="en-US" dirty="0" err="1"/>
              <a:t>Verhalten</a:t>
            </a:r>
            <a:r>
              <a:rPr lang="en-US" dirty="0"/>
              <a:t>. Die </a:t>
            </a:r>
            <a:r>
              <a:rPr lang="en-US" dirty="0" err="1"/>
              <a:t>Verhaltensbeeinflussung</a:t>
            </a:r>
            <a:r>
              <a:rPr lang="en-US" dirty="0"/>
              <a:t> </a:t>
            </a:r>
            <a:r>
              <a:rPr lang="en-US" dirty="0" err="1"/>
              <a:t>entsteht</a:t>
            </a:r>
            <a:r>
              <a:rPr lang="en-US" dirty="0"/>
              <a:t> erst </a:t>
            </a:r>
            <a:r>
              <a:rPr lang="en-US" dirty="0" err="1"/>
              <a:t>dann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-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Bewertungsergebnisse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konkreten</a:t>
            </a:r>
            <a:r>
              <a:rPr lang="en-US" dirty="0"/>
              <a:t> </a:t>
            </a:r>
            <a:r>
              <a:rPr lang="en-US" dirty="0" err="1"/>
              <a:t>Systementscheidungen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Interventionen</a:t>
            </a:r>
            <a:r>
              <a:rPr lang="en-US" dirty="0"/>
              <a:t> </a:t>
            </a:r>
            <a:r>
              <a:rPr lang="en-US" dirty="0" err="1"/>
              <a:t>verbunden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.“</a:t>
            </a:r>
          </a:p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8375078-5A70-4C7F-A1AC-EE42DE017F93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85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„Bei der Interpretation der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müssen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die </a:t>
            </a:r>
            <a:r>
              <a:rPr lang="en-US" dirty="0" err="1"/>
              <a:t>Grenzen</a:t>
            </a:r>
            <a:r>
              <a:rPr lang="en-US" dirty="0"/>
              <a:t> der Arbeit </a:t>
            </a:r>
            <a:r>
              <a:rPr lang="en-US" dirty="0" err="1"/>
              <a:t>berücksichtigt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.</a:t>
            </a:r>
          </a:p>
          <a:p>
            <a:r>
              <a:rPr lang="en-US" dirty="0"/>
              <a:t>Eine </a:t>
            </a:r>
            <a:r>
              <a:rPr lang="en-US" dirty="0" err="1"/>
              <a:t>wesentliche</a:t>
            </a:r>
            <a:r>
              <a:rPr lang="en-US" dirty="0"/>
              <a:t> </a:t>
            </a:r>
            <a:r>
              <a:rPr lang="en-US" dirty="0" err="1"/>
              <a:t>Einschränkung</a:t>
            </a:r>
            <a:r>
              <a:rPr lang="en-US" dirty="0"/>
              <a:t> </a:t>
            </a:r>
            <a:r>
              <a:rPr lang="en-US" dirty="0" err="1"/>
              <a:t>besteht</a:t>
            </a:r>
            <a:r>
              <a:rPr lang="en-US" dirty="0"/>
              <a:t> </a:t>
            </a:r>
            <a:r>
              <a:rPr lang="en-US" dirty="0" err="1"/>
              <a:t>darin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</a:t>
            </a:r>
            <a:r>
              <a:rPr lang="en-US" dirty="0" err="1"/>
              <a:t>technologischen</a:t>
            </a:r>
            <a:r>
              <a:rPr lang="en-US" dirty="0"/>
              <a:t> Details </a:t>
            </a:r>
            <a:r>
              <a:rPr lang="en-US" dirty="0" err="1"/>
              <a:t>proprietärer</a:t>
            </a:r>
            <a:r>
              <a:rPr lang="en-US" dirty="0"/>
              <a:t> Monitoring-Systeme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eingeschränkt</a:t>
            </a:r>
            <a:r>
              <a:rPr lang="en-US" dirty="0"/>
              <a:t> </a:t>
            </a:r>
            <a:r>
              <a:rPr lang="en-US" dirty="0" err="1"/>
              <a:t>zugänglich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. </a:t>
            </a:r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interne </a:t>
            </a:r>
            <a:r>
              <a:rPr lang="en-US" dirty="0" err="1"/>
              <a:t>Algorithmen</a:t>
            </a:r>
            <a:r>
              <a:rPr lang="en-US" dirty="0"/>
              <a:t> und </a:t>
            </a:r>
            <a:r>
              <a:rPr lang="en-US" dirty="0" err="1"/>
              <a:t>konkrete</a:t>
            </a:r>
            <a:r>
              <a:rPr lang="en-US" dirty="0"/>
              <a:t> </a:t>
            </a:r>
            <a:r>
              <a:rPr lang="en-US" dirty="0" err="1"/>
              <a:t>Entscheidungsprozesse</a:t>
            </a:r>
            <a:r>
              <a:rPr lang="en-US" dirty="0"/>
              <a:t> nicht </a:t>
            </a:r>
            <a:r>
              <a:rPr lang="en-US" dirty="0" err="1"/>
              <a:t>vollständig</a:t>
            </a:r>
            <a:r>
              <a:rPr lang="en-US" dirty="0"/>
              <a:t> </a:t>
            </a:r>
            <a:r>
              <a:rPr lang="en-US" dirty="0" err="1"/>
              <a:t>nachvollziehen</a:t>
            </a:r>
            <a:r>
              <a:rPr lang="en-US" dirty="0"/>
              <a:t>.</a:t>
            </a:r>
          </a:p>
          <a:p>
            <a:r>
              <a:rPr lang="en-US" dirty="0"/>
              <a:t>Eine </a:t>
            </a:r>
            <a:r>
              <a:rPr lang="en-US" dirty="0" err="1"/>
              <a:t>weitere</a:t>
            </a:r>
            <a:r>
              <a:rPr lang="en-US" dirty="0"/>
              <a:t> </a:t>
            </a:r>
            <a:r>
              <a:rPr lang="en-US" dirty="0" err="1"/>
              <a:t>Einschränkung</a:t>
            </a:r>
            <a:r>
              <a:rPr lang="en-US" dirty="0"/>
              <a:t> </a:t>
            </a:r>
            <a:r>
              <a:rPr lang="en-US" dirty="0" err="1"/>
              <a:t>betrifft</a:t>
            </a:r>
            <a:r>
              <a:rPr lang="en-US" dirty="0"/>
              <a:t> die </a:t>
            </a:r>
            <a:r>
              <a:rPr lang="en-US" dirty="0" err="1"/>
              <a:t>Literaturbasis</a:t>
            </a:r>
            <a:r>
              <a:rPr lang="en-US" dirty="0"/>
              <a:t>. Die Arbeit </a:t>
            </a:r>
            <a:r>
              <a:rPr lang="en-US" dirty="0" err="1"/>
              <a:t>verbindet</a:t>
            </a:r>
            <a:r>
              <a:rPr lang="en-US" dirty="0"/>
              <a:t> </a:t>
            </a:r>
            <a:r>
              <a:rPr lang="en-US" dirty="0" err="1"/>
              <a:t>Erkenntnisse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unterschiedlichen</a:t>
            </a:r>
            <a:r>
              <a:rPr lang="en-US" dirty="0"/>
              <a:t> </a:t>
            </a:r>
            <a:r>
              <a:rPr lang="en-US" dirty="0" err="1"/>
              <a:t>wissenschaftlichen</a:t>
            </a:r>
            <a:r>
              <a:rPr lang="en-US" dirty="0"/>
              <a:t> </a:t>
            </a:r>
            <a:r>
              <a:rPr lang="en-US" dirty="0" err="1"/>
              <a:t>Disziplinen</a:t>
            </a:r>
            <a:r>
              <a:rPr lang="en-US" dirty="0"/>
              <a:t> und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unterschiedliche</a:t>
            </a:r>
            <a:r>
              <a:rPr lang="en-US" dirty="0"/>
              <a:t> </a:t>
            </a:r>
            <a:r>
              <a:rPr lang="en-US" dirty="0" err="1"/>
              <a:t>methodische</a:t>
            </a:r>
            <a:r>
              <a:rPr lang="en-US" dirty="0"/>
              <a:t> </a:t>
            </a:r>
            <a:r>
              <a:rPr lang="en-US" dirty="0" err="1"/>
              <a:t>Ansätze</a:t>
            </a:r>
            <a:r>
              <a:rPr lang="en-US" dirty="0"/>
              <a:t> und </a:t>
            </a:r>
            <a:r>
              <a:rPr lang="en-US" dirty="0" err="1"/>
              <a:t>Evidenzgrade</a:t>
            </a:r>
            <a:r>
              <a:rPr lang="en-US" dirty="0"/>
              <a:t>. </a:t>
            </a:r>
            <a:r>
              <a:rPr lang="en-US" dirty="0" err="1"/>
              <a:t>Gerade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Themen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Filterblasen</a:t>
            </a:r>
            <a:r>
              <a:rPr lang="en-US" dirty="0"/>
              <a:t>, </a:t>
            </a:r>
            <a:r>
              <a:rPr lang="en-US" dirty="0" err="1"/>
              <a:t>Echokammern</a:t>
            </a:r>
            <a:r>
              <a:rPr lang="en-US" dirty="0"/>
              <a:t> und </a:t>
            </a:r>
            <a:r>
              <a:rPr lang="en-US" dirty="0" err="1"/>
              <a:t>algorithmischer</a:t>
            </a:r>
            <a:r>
              <a:rPr lang="en-US" dirty="0"/>
              <a:t> </a:t>
            </a:r>
            <a:r>
              <a:rPr lang="en-US" dirty="0" err="1"/>
              <a:t>Polarisierung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die </a:t>
            </a:r>
            <a:r>
              <a:rPr lang="en-US" dirty="0" err="1"/>
              <a:t>empirischen</a:t>
            </a:r>
            <a:r>
              <a:rPr lang="en-US" dirty="0"/>
              <a:t> </a:t>
            </a:r>
            <a:r>
              <a:rPr lang="en-US" dirty="0" err="1"/>
              <a:t>Befunde</a:t>
            </a:r>
            <a:r>
              <a:rPr lang="en-US" dirty="0"/>
              <a:t> </a:t>
            </a:r>
            <a:r>
              <a:rPr lang="en-US" dirty="0" err="1"/>
              <a:t>teilweise</a:t>
            </a:r>
            <a:r>
              <a:rPr lang="en-US" dirty="0"/>
              <a:t> </a:t>
            </a:r>
            <a:r>
              <a:rPr lang="en-US" dirty="0" err="1"/>
              <a:t>widersprüchlich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stark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jeweiligen</a:t>
            </a:r>
            <a:r>
              <a:rPr lang="en-US" dirty="0"/>
              <a:t> </a:t>
            </a:r>
            <a:r>
              <a:rPr lang="en-US" dirty="0" err="1"/>
              <a:t>Kontext</a:t>
            </a:r>
            <a:r>
              <a:rPr lang="en-US" dirty="0"/>
              <a:t> </a:t>
            </a:r>
            <a:r>
              <a:rPr lang="en-US" dirty="0" err="1"/>
              <a:t>abhängig</a:t>
            </a:r>
            <a:r>
              <a:rPr lang="en-US" dirty="0"/>
              <a:t>. </a:t>
            </a:r>
          </a:p>
          <a:p>
            <a:r>
              <a:rPr lang="en-US" dirty="0" err="1"/>
              <a:t>Außerdem</a:t>
            </a:r>
            <a:r>
              <a:rPr lang="en-US" dirty="0"/>
              <a:t> </a:t>
            </a:r>
            <a:r>
              <a:rPr lang="en-US" dirty="0" err="1"/>
              <a:t>handelt</a:t>
            </a:r>
            <a:r>
              <a:rPr lang="en-US" dirty="0"/>
              <a:t> es </a:t>
            </a:r>
            <a:r>
              <a:rPr lang="en-US" dirty="0" err="1"/>
              <a:t>sich</a:t>
            </a:r>
            <a:r>
              <a:rPr lang="en-US" dirty="0"/>
              <a:t> um </a:t>
            </a:r>
            <a:r>
              <a:rPr lang="en-US" dirty="0" err="1"/>
              <a:t>eine</a:t>
            </a:r>
            <a:r>
              <a:rPr lang="en-US" dirty="0"/>
              <a:t> qualitative, </a:t>
            </a:r>
            <a:r>
              <a:rPr lang="en-US" dirty="0" err="1"/>
              <a:t>literaturbasierte</a:t>
            </a:r>
            <a:r>
              <a:rPr lang="en-US" dirty="0"/>
              <a:t> und </a:t>
            </a:r>
            <a:r>
              <a:rPr lang="en-US" dirty="0" err="1"/>
              <a:t>konzeptionelle</a:t>
            </a:r>
            <a:r>
              <a:rPr lang="en-US" dirty="0"/>
              <a:t> </a:t>
            </a:r>
            <a:r>
              <a:rPr lang="en-US" dirty="0" err="1"/>
              <a:t>Untersuchung</a:t>
            </a:r>
            <a:r>
              <a:rPr lang="en-US" dirty="0"/>
              <a:t>. Es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</a:t>
            </a:r>
            <a:r>
              <a:rPr lang="en-US" dirty="0" err="1"/>
              <a:t>Primärdaten</a:t>
            </a:r>
            <a:r>
              <a:rPr lang="en-US" dirty="0"/>
              <a:t> </a:t>
            </a:r>
            <a:r>
              <a:rPr lang="en-US" dirty="0" err="1"/>
              <a:t>erhoben</a:t>
            </a:r>
            <a:r>
              <a:rPr lang="en-US" dirty="0"/>
              <a:t>. </a:t>
            </a:r>
            <a:r>
              <a:rPr lang="en-US" dirty="0" err="1"/>
              <a:t>Deshalb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 die Arbeit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allem</a:t>
            </a:r>
            <a:r>
              <a:rPr lang="en-US" dirty="0"/>
              <a:t> </a:t>
            </a:r>
            <a:r>
              <a:rPr lang="en-US" dirty="0" err="1"/>
              <a:t>strukturelle</a:t>
            </a:r>
            <a:r>
              <a:rPr lang="en-US" dirty="0"/>
              <a:t> </a:t>
            </a:r>
            <a:r>
              <a:rPr lang="en-US" dirty="0" err="1"/>
              <a:t>Zusammenhänge</a:t>
            </a:r>
            <a:r>
              <a:rPr lang="en-US" dirty="0"/>
              <a:t> und </a:t>
            </a:r>
            <a:r>
              <a:rPr lang="en-US" dirty="0" err="1"/>
              <a:t>Wirkungsmechanismen</a:t>
            </a:r>
            <a:r>
              <a:rPr lang="en-US" dirty="0"/>
              <a:t> </a:t>
            </a:r>
            <a:r>
              <a:rPr lang="en-US" dirty="0" err="1"/>
              <a:t>herausarbeiten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</a:t>
            </a:r>
            <a:r>
              <a:rPr lang="en-US" dirty="0" err="1"/>
              <a:t>kausalen</a:t>
            </a:r>
            <a:r>
              <a:rPr lang="en-US" dirty="0"/>
              <a:t> </a:t>
            </a:r>
            <a:r>
              <a:rPr lang="en-US" dirty="0" err="1"/>
              <a:t>Wirkungsnachweise</a:t>
            </a:r>
            <a:r>
              <a:rPr lang="en-US" dirty="0"/>
              <a:t> </a:t>
            </a:r>
            <a:r>
              <a:rPr lang="en-US" dirty="0" err="1"/>
              <a:t>liefern</a:t>
            </a:r>
            <a:r>
              <a:rPr lang="en-US" dirty="0"/>
              <a:t>. </a:t>
            </a:r>
          </a:p>
          <a:p>
            <a:r>
              <a:rPr lang="en-US" dirty="0" err="1"/>
              <a:t>Insgesamt</a:t>
            </a:r>
            <a:r>
              <a:rPr lang="en-US" dirty="0"/>
              <a:t> </a:t>
            </a:r>
            <a:r>
              <a:rPr lang="en-US" dirty="0" err="1"/>
              <a:t>besitzt</a:t>
            </a:r>
            <a:r>
              <a:rPr lang="en-US" dirty="0"/>
              <a:t> die Arbeit </a:t>
            </a:r>
            <a:r>
              <a:rPr lang="en-US" dirty="0" err="1"/>
              <a:t>damit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hohen</a:t>
            </a:r>
            <a:r>
              <a:rPr lang="en-US" dirty="0"/>
              <a:t> </a:t>
            </a:r>
            <a:r>
              <a:rPr lang="en-US" dirty="0" err="1"/>
              <a:t>konzeptionellen</a:t>
            </a:r>
            <a:r>
              <a:rPr lang="en-US" dirty="0"/>
              <a:t> </a:t>
            </a:r>
            <a:r>
              <a:rPr lang="en-US" dirty="0" err="1"/>
              <a:t>Erklärungswert</a:t>
            </a:r>
            <a:r>
              <a:rPr lang="en-US" dirty="0"/>
              <a:t>, </a:t>
            </a:r>
            <a:r>
              <a:rPr lang="en-US" dirty="0" err="1"/>
              <a:t>während</a:t>
            </a:r>
            <a:r>
              <a:rPr lang="en-US" dirty="0"/>
              <a:t> die </a:t>
            </a:r>
            <a:r>
              <a:rPr lang="en-US" dirty="0" err="1"/>
              <a:t>empirische</a:t>
            </a:r>
            <a:r>
              <a:rPr lang="en-US" dirty="0"/>
              <a:t> und </a:t>
            </a:r>
            <a:r>
              <a:rPr lang="en-US" dirty="0" err="1"/>
              <a:t>kausale</a:t>
            </a:r>
            <a:r>
              <a:rPr lang="en-US" dirty="0"/>
              <a:t> </a:t>
            </a:r>
            <a:r>
              <a:rPr lang="en-US" dirty="0" err="1"/>
              <a:t>Aussagekraft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den </a:t>
            </a:r>
            <a:r>
              <a:rPr lang="en-US" dirty="0" err="1"/>
              <a:t>gewählten</a:t>
            </a:r>
            <a:r>
              <a:rPr lang="en-US" dirty="0"/>
              <a:t> </a:t>
            </a:r>
            <a:r>
              <a:rPr lang="en-US" dirty="0" err="1"/>
              <a:t>methodischen</a:t>
            </a:r>
            <a:r>
              <a:rPr lang="en-US" dirty="0"/>
              <a:t> Ansatz </a:t>
            </a:r>
            <a:r>
              <a:rPr lang="en-US" dirty="0" err="1"/>
              <a:t>begrenzt</a:t>
            </a:r>
            <a:r>
              <a:rPr lang="en-US" dirty="0"/>
              <a:t> </a:t>
            </a:r>
            <a:r>
              <a:rPr lang="en-US" dirty="0" err="1"/>
              <a:t>bleibt</a:t>
            </a:r>
            <a:r>
              <a:rPr lang="en-US" dirty="0"/>
              <a:t>. </a:t>
            </a:r>
          </a:p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00487D3D-9C60-48BA-8072-38B7B8060A93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115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Zusammenfassend</a:t>
            </a:r>
            <a:r>
              <a:rPr lang="en-US" dirty="0"/>
              <a:t> </a:t>
            </a:r>
            <a:r>
              <a:rPr lang="en-US" dirty="0" err="1"/>
              <a:t>lässt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die </a:t>
            </a:r>
            <a:r>
              <a:rPr lang="en-US" dirty="0" err="1"/>
              <a:t>Forschungsfrage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folgt</a:t>
            </a:r>
            <a:r>
              <a:rPr lang="en-US" dirty="0"/>
              <a:t> </a:t>
            </a:r>
            <a:r>
              <a:rPr lang="en-US" dirty="0" err="1"/>
              <a:t>beantworten</a:t>
            </a:r>
            <a:r>
              <a:rPr lang="en-US" dirty="0"/>
              <a:t>:</a:t>
            </a:r>
          </a:p>
          <a:p>
            <a:r>
              <a:rPr lang="en-US" dirty="0"/>
              <a:t>KI-</a:t>
            </a:r>
            <a:r>
              <a:rPr lang="en-US" dirty="0" err="1"/>
              <a:t>gestützte</a:t>
            </a:r>
            <a:r>
              <a:rPr lang="en-US" dirty="0"/>
              <a:t> Monitoring-Systeme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 </a:t>
            </a:r>
            <a:r>
              <a:rPr lang="en-US" dirty="0" err="1"/>
              <a:t>Informationssysteme</a:t>
            </a:r>
            <a:r>
              <a:rPr lang="en-US" dirty="0"/>
              <a:t> verstehen, die </a:t>
            </a:r>
            <a:r>
              <a:rPr lang="en-US" dirty="0" err="1"/>
              <a:t>kontinuierlich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erfassen</a:t>
            </a:r>
            <a:r>
              <a:rPr lang="en-US" dirty="0"/>
              <a:t>,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mithilfe</a:t>
            </a:r>
            <a:r>
              <a:rPr lang="en-US" dirty="0"/>
              <a:t> von </a:t>
            </a:r>
            <a:r>
              <a:rPr lang="en-US" dirty="0" err="1"/>
              <a:t>Analyse</a:t>
            </a:r>
            <a:r>
              <a:rPr lang="en-US" dirty="0"/>
              <a:t>- und Machine-Learning-</a:t>
            </a:r>
            <a:r>
              <a:rPr lang="en-US" dirty="0" err="1"/>
              <a:t>Verfahren</a:t>
            </a:r>
            <a:r>
              <a:rPr lang="en-US" dirty="0"/>
              <a:t> </a:t>
            </a:r>
            <a:r>
              <a:rPr lang="en-US" dirty="0" err="1"/>
              <a:t>auswerten</a:t>
            </a:r>
            <a:r>
              <a:rPr lang="en-US" dirty="0"/>
              <a:t> und </a:t>
            </a:r>
            <a:r>
              <a:rPr lang="en-US" dirty="0" err="1"/>
              <a:t>daraus</a:t>
            </a:r>
            <a:r>
              <a:rPr lang="en-US" dirty="0"/>
              <a:t> </a:t>
            </a:r>
            <a:r>
              <a:rPr lang="en-US" dirty="0" err="1"/>
              <a:t>Informationen</a:t>
            </a:r>
            <a:r>
              <a:rPr lang="en-US" dirty="0"/>
              <a:t>, </a:t>
            </a:r>
            <a:r>
              <a:rPr lang="en-US" dirty="0" err="1"/>
              <a:t>Bewertungen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Prognosen</a:t>
            </a:r>
            <a:r>
              <a:rPr lang="en-US" dirty="0"/>
              <a:t> </a:t>
            </a:r>
            <a:r>
              <a:rPr lang="en-US" dirty="0" err="1"/>
              <a:t>ableiten</a:t>
            </a:r>
            <a:r>
              <a:rPr lang="en-US" dirty="0"/>
              <a:t>.</a:t>
            </a:r>
          </a:p>
          <a:p>
            <a:r>
              <a:rPr lang="en-US" dirty="0" err="1"/>
              <a:t>Entscheidend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dabei</a:t>
            </a:r>
            <a:r>
              <a:rPr lang="en-US" dirty="0"/>
              <a:t> die 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zwischen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und </a:t>
            </a:r>
            <a:r>
              <a:rPr lang="en-US" dirty="0" err="1"/>
              <a:t>Entscheidung</a:t>
            </a:r>
            <a:r>
              <a:rPr lang="en-US" dirty="0"/>
              <a:t>. Die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allein</a:t>
            </a:r>
            <a:r>
              <a:rPr lang="en-US" dirty="0"/>
              <a:t> </a:t>
            </a:r>
            <a:r>
              <a:rPr lang="en-US" dirty="0" err="1"/>
              <a:t>bedeutet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Verhaltensbeeinflussung</a:t>
            </a:r>
            <a:r>
              <a:rPr lang="en-US" dirty="0"/>
              <a:t>. Erst </a:t>
            </a:r>
            <a:r>
              <a:rPr lang="en-US" dirty="0" err="1"/>
              <a:t>wenn</a:t>
            </a:r>
            <a:r>
              <a:rPr lang="en-US" dirty="0"/>
              <a:t> die </a:t>
            </a:r>
            <a:r>
              <a:rPr lang="en-US" dirty="0" err="1"/>
              <a:t>gewonnenen</a:t>
            </a:r>
            <a:r>
              <a:rPr lang="en-US" dirty="0"/>
              <a:t> </a:t>
            </a:r>
            <a:r>
              <a:rPr lang="en-US" dirty="0" err="1"/>
              <a:t>Ergebnisse</a:t>
            </a:r>
            <a:r>
              <a:rPr lang="en-US" dirty="0"/>
              <a:t> </a:t>
            </a:r>
            <a:r>
              <a:rPr lang="en-US" dirty="0" err="1"/>
              <a:t>beispielsweise</a:t>
            </a:r>
            <a:r>
              <a:rPr lang="en-US" dirty="0"/>
              <a:t> in </a:t>
            </a:r>
            <a:r>
              <a:rPr lang="en-US" dirty="0" err="1"/>
              <a:t>Personalisierung</a:t>
            </a:r>
            <a:r>
              <a:rPr lang="en-US" dirty="0"/>
              <a:t>, Ranking, </a:t>
            </a:r>
            <a:r>
              <a:rPr lang="en-US" dirty="0" err="1"/>
              <a:t>Empfehlungen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andere</a:t>
            </a:r>
            <a:r>
              <a:rPr lang="en-US" dirty="0"/>
              <a:t> </a:t>
            </a:r>
            <a:r>
              <a:rPr lang="en-US" dirty="0" err="1"/>
              <a:t>Interventionen</a:t>
            </a:r>
            <a:r>
              <a:rPr lang="en-US" dirty="0"/>
              <a:t> </a:t>
            </a:r>
            <a:r>
              <a:rPr lang="en-US" dirty="0" err="1"/>
              <a:t>einfließen</a:t>
            </a:r>
            <a:r>
              <a:rPr lang="en-US" dirty="0"/>
              <a:t>, </a:t>
            </a:r>
            <a:r>
              <a:rPr lang="en-US" dirty="0" err="1"/>
              <a:t>kann</a:t>
            </a:r>
            <a:r>
              <a:rPr lang="en-US" dirty="0"/>
              <a:t> </a:t>
            </a:r>
            <a:r>
              <a:rPr lang="en-US" dirty="0" err="1"/>
              <a:t>daraus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gezielte</a:t>
            </a:r>
            <a:r>
              <a:rPr lang="en-US" dirty="0"/>
              <a:t> </a:t>
            </a:r>
            <a:r>
              <a:rPr lang="en-US" dirty="0" err="1"/>
              <a:t>Beeinflussung</a:t>
            </a:r>
            <a:r>
              <a:rPr lang="en-US" dirty="0"/>
              <a:t> des </a:t>
            </a:r>
            <a:r>
              <a:rPr lang="en-US" dirty="0" err="1"/>
              <a:t>Nutzerverhaltens</a:t>
            </a:r>
            <a:r>
              <a:rPr lang="en-US" dirty="0"/>
              <a:t> </a:t>
            </a:r>
            <a:r>
              <a:rPr lang="en-US" dirty="0" err="1"/>
              <a:t>entstehen</a:t>
            </a:r>
            <a:r>
              <a:rPr lang="en-US" dirty="0"/>
              <a:t>.</a:t>
            </a:r>
          </a:p>
          <a:p>
            <a:r>
              <a:rPr lang="en-US" dirty="0" err="1"/>
              <a:t>Gleichzeitig</a:t>
            </a:r>
            <a:r>
              <a:rPr lang="en-US" dirty="0"/>
              <a:t> </a:t>
            </a:r>
            <a:r>
              <a:rPr lang="en-US" dirty="0" err="1"/>
              <a:t>zeigt</a:t>
            </a:r>
            <a:r>
              <a:rPr lang="en-US" dirty="0"/>
              <a:t> die Arbeit,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Systeme nicht </a:t>
            </a:r>
            <a:r>
              <a:rPr lang="en-US" dirty="0" err="1"/>
              <a:t>isoliert</a:t>
            </a:r>
            <a:r>
              <a:rPr lang="en-US" dirty="0"/>
              <a:t> </a:t>
            </a:r>
            <a:r>
              <a:rPr lang="en-US" dirty="0" err="1"/>
              <a:t>technisch</a:t>
            </a:r>
            <a:r>
              <a:rPr lang="en-US" dirty="0"/>
              <a:t> </a:t>
            </a:r>
            <a:r>
              <a:rPr lang="en-US" dirty="0" err="1"/>
              <a:t>betrachtet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. Sie </a:t>
            </a:r>
            <a:r>
              <a:rPr lang="en-US" dirty="0" err="1"/>
              <a:t>sind</a:t>
            </a:r>
            <a:r>
              <a:rPr lang="en-US" dirty="0"/>
              <a:t> in </a:t>
            </a:r>
            <a:r>
              <a:rPr lang="en-US" dirty="0" err="1"/>
              <a:t>wirtschaftliche</a:t>
            </a:r>
            <a:r>
              <a:rPr lang="en-US" dirty="0"/>
              <a:t>, </a:t>
            </a:r>
            <a:r>
              <a:rPr lang="en-US" dirty="0" err="1"/>
              <a:t>gesellschaftliche</a:t>
            </a:r>
            <a:r>
              <a:rPr lang="en-US" dirty="0"/>
              <a:t> und </a:t>
            </a:r>
            <a:r>
              <a:rPr lang="en-US" dirty="0" err="1"/>
              <a:t>politische</a:t>
            </a:r>
            <a:r>
              <a:rPr lang="en-US" dirty="0"/>
              <a:t> </a:t>
            </a:r>
            <a:r>
              <a:rPr lang="en-US" dirty="0" err="1"/>
              <a:t>Strukturen</a:t>
            </a:r>
            <a:r>
              <a:rPr lang="en-US" dirty="0"/>
              <a:t> </a:t>
            </a:r>
            <a:r>
              <a:rPr lang="en-US" dirty="0" err="1"/>
              <a:t>eingebettet</a:t>
            </a:r>
            <a:r>
              <a:rPr lang="en-US" dirty="0"/>
              <a:t> und </a:t>
            </a:r>
            <a:r>
              <a:rPr lang="en-US" dirty="0" err="1"/>
              <a:t>können</a:t>
            </a:r>
            <a:r>
              <a:rPr lang="en-US" dirty="0"/>
              <a:t> </a:t>
            </a:r>
            <a:r>
              <a:rPr lang="en-US" dirty="0" err="1"/>
              <a:t>dadurch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Macht- und </a:t>
            </a:r>
            <a:r>
              <a:rPr lang="en-US" dirty="0" err="1"/>
              <a:t>Abhängigkeitsverhältnisse</a:t>
            </a:r>
            <a:r>
              <a:rPr lang="en-US" dirty="0"/>
              <a:t> </a:t>
            </a:r>
            <a:r>
              <a:rPr lang="en-US" dirty="0" err="1"/>
              <a:t>beeinflussen</a:t>
            </a:r>
            <a:r>
              <a:rPr lang="en-US" dirty="0"/>
              <a:t>.</a:t>
            </a:r>
          </a:p>
          <a:p>
            <a:r>
              <a:rPr lang="en-US" dirty="0"/>
              <a:t>Für die </a:t>
            </a:r>
            <a:r>
              <a:rPr lang="en-US" dirty="0" err="1"/>
              <a:t>weitere</a:t>
            </a:r>
            <a:r>
              <a:rPr lang="en-US" dirty="0"/>
              <a:t> </a:t>
            </a:r>
            <a:r>
              <a:rPr lang="en-US" dirty="0" err="1"/>
              <a:t>Entwicklung</a:t>
            </a:r>
            <a:r>
              <a:rPr lang="en-US" dirty="0"/>
              <a:t> </a:t>
            </a:r>
            <a:r>
              <a:rPr lang="en-US" dirty="0" err="1"/>
              <a:t>sehe</a:t>
            </a:r>
            <a:r>
              <a:rPr lang="en-US" dirty="0"/>
              <a:t> ich </a:t>
            </a:r>
            <a:r>
              <a:rPr lang="en-US" dirty="0" err="1"/>
              <a:t>deshalb</a:t>
            </a:r>
            <a:r>
              <a:rPr lang="en-US" dirty="0"/>
              <a:t> </a:t>
            </a:r>
            <a:r>
              <a:rPr lang="en-US" dirty="0" err="1"/>
              <a:t>insbesondere</a:t>
            </a:r>
            <a:r>
              <a:rPr lang="en-US" dirty="0"/>
              <a:t> die </a:t>
            </a:r>
            <a:r>
              <a:rPr lang="en-US" dirty="0" err="1"/>
              <a:t>Notwendigkeit</a:t>
            </a:r>
            <a:r>
              <a:rPr lang="en-US" dirty="0"/>
              <a:t> von </a:t>
            </a:r>
            <a:r>
              <a:rPr lang="en-US" dirty="0" err="1"/>
              <a:t>mehr</a:t>
            </a:r>
            <a:r>
              <a:rPr lang="en-US" dirty="0"/>
              <a:t> </a:t>
            </a:r>
            <a:r>
              <a:rPr lang="en-US" dirty="0" err="1"/>
              <a:t>Transparenz</a:t>
            </a:r>
            <a:r>
              <a:rPr lang="en-US" dirty="0"/>
              <a:t> und </a:t>
            </a:r>
            <a:r>
              <a:rPr lang="en-US" dirty="0" err="1"/>
              <a:t>nachvollziehbaren</a:t>
            </a:r>
            <a:r>
              <a:rPr lang="en-US" dirty="0"/>
              <a:t> </a:t>
            </a:r>
            <a:r>
              <a:rPr lang="en-US" dirty="0" err="1"/>
              <a:t>Entscheidungsprozessen</a:t>
            </a:r>
            <a:r>
              <a:rPr lang="en-US" dirty="0"/>
              <a:t> </a:t>
            </a:r>
            <a:r>
              <a:rPr lang="en-US" dirty="0" err="1"/>
              <a:t>sowie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Weiterentwicklung</a:t>
            </a:r>
            <a:r>
              <a:rPr lang="en-US" dirty="0"/>
              <a:t> von Governance- und </a:t>
            </a:r>
            <a:r>
              <a:rPr lang="en-US" dirty="0" err="1"/>
              <a:t>Regulierungsmechanismen</a:t>
            </a:r>
            <a:r>
              <a:rPr lang="en-US" dirty="0"/>
              <a:t>. </a:t>
            </a:r>
            <a:r>
              <a:rPr lang="en-US" dirty="0" err="1"/>
              <a:t>Darüber</a:t>
            </a:r>
            <a:r>
              <a:rPr lang="en-US" dirty="0"/>
              <a:t> </a:t>
            </a:r>
            <a:r>
              <a:rPr lang="en-US" dirty="0" err="1"/>
              <a:t>hinaus</a:t>
            </a:r>
            <a:r>
              <a:rPr lang="en-US" dirty="0"/>
              <a:t> </a:t>
            </a:r>
            <a:r>
              <a:rPr lang="en-US" dirty="0" err="1"/>
              <a:t>wäre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empirische</a:t>
            </a:r>
            <a:r>
              <a:rPr lang="en-US" dirty="0"/>
              <a:t> </a:t>
            </a:r>
            <a:r>
              <a:rPr lang="en-US" dirty="0" err="1"/>
              <a:t>Untersuchung</a:t>
            </a:r>
            <a:r>
              <a:rPr lang="en-US" dirty="0"/>
              <a:t> </a:t>
            </a:r>
            <a:r>
              <a:rPr lang="en-US" dirty="0" err="1"/>
              <a:t>konkreter</a:t>
            </a:r>
            <a:r>
              <a:rPr lang="en-US" dirty="0"/>
              <a:t> Monitoring-Systeme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sinnvoller</a:t>
            </a:r>
            <a:r>
              <a:rPr lang="en-US" dirty="0"/>
              <a:t> </a:t>
            </a:r>
            <a:r>
              <a:rPr lang="en-US" dirty="0" err="1"/>
              <a:t>nächster</a:t>
            </a:r>
            <a:r>
              <a:rPr lang="en-US" dirty="0"/>
              <a:t> </a:t>
            </a:r>
            <a:r>
              <a:rPr lang="en-US" dirty="0" err="1"/>
              <a:t>Forschungsschritt</a:t>
            </a:r>
            <a:r>
              <a:rPr lang="en-US" dirty="0"/>
              <a:t>.</a:t>
            </a:r>
          </a:p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120A610-A75E-4FC5-BBE6-84A9549B6564}" type="datetime1">
              <a:rPr lang="de-DE" smtClean="0"/>
              <a:t>10.08.2026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6D199-8F06-4346-AE65-F23F023EED68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47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Inhaltsplatzhalter 10"/>
          <p:cNvSpPr>
            <a:spLocks noGrp="1"/>
          </p:cNvSpPr>
          <p:nvPr>
            <p:ph sz="quarter" idx="13" hasCustomPrompt="1"/>
          </p:nvPr>
        </p:nvSpPr>
        <p:spPr>
          <a:xfrm>
            <a:off x="437222" y="3863556"/>
            <a:ext cx="8022566" cy="1354301"/>
          </a:xfrm>
        </p:spPr>
        <p:txBody>
          <a:bodyPr lIns="91440" tIns="45720" rIns="0" bIns="45720" anchor="b">
            <a:noAutofit/>
          </a:bodyPr>
          <a:lstStyle>
            <a:lvl1pPr algn="r">
              <a:buFontTx/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Modulname / Veranstaltung</a:t>
            </a:r>
          </a:p>
        </p:txBody>
      </p:sp>
      <p:sp>
        <p:nvSpPr>
          <p:cNvPr id="28" name="Inhaltsplatzhalter 10"/>
          <p:cNvSpPr>
            <a:spLocks noGrp="1"/>
          </p:cNvSpPr>
          <p:nvPr>
            <p:ph sz="quarter" idx="14" hasCustomPrompt="1"/>
          </p:nvPr>
        </p:nvSpPr>
        <p:spPr>
          <a:xfrm>
            <a:off x="437222" y="5750928"/>
            <a:ext cx="8022566" cy="361920"/>
          </a:xfrm>
        </p:spPr>
        <p:txBody>
          <a:bodyPr lIns="91440" tIns="45720" rIns="0" bIns="45720">
            <a:noAutofit/>
          </a:bodyPr>
          <a:lstStyle>
            <a:lvl1pPr algn="r">
              <a:buFontTx/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Vortragende/r</a:t>
            </a:r>
          </a:p>
        </p:txBody>
      </p:sp>
      <p:sp>
        <p:nvSpPr>
          <p:cNvPr id="29" name="Inhaltsplatzhalter 10"/>
          <p:cNvSpPr>
            <a:spLocks noGrp="1"/>
          </p:cNvSpPr>
          <p:nvPr>
            <p:ph sz="quarter" idx="15" hasCustomPrompt="1"/>
          </p:nvPr>
        </p:nvSpPr>
        <p:spPr>
          <a:xfrm>
            <a:off x="437222" y="5218247"/>
            <a:ext cx="8022566" cy="361920"/>
          </a:xfrm>
        </p:spPr>
        <p:txBody>
          <a:bodyPr lIns="91440" tIns="45720" rIns="0" bIns="45720">
            <a:noAutofit/>
          </a:bodyPr>
          <a:lstStyle>
            <a:lvl1pPr algn="r">
              <a:buFontTx/>
              <a:buNone/>
              <a:defRPr sz="1800" b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de-DE" dirty="0"/>
              <a:t>ggfs. Untertitel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0952D6D-9DC7-4B0B-AB1D-6455E1BAF6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238" y="135028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3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000" y="6551377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 algn="l"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108000" y="800100"/>
            <a:ext cx="8351788" cy="56198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616CD4-D9A1-49DD-926A-2AB2A15980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2" name="Rectangle 43">
            <a:extLst>
              <a:ext uri="{FF2B5EF4-FFF2-40B4-BE49-F238E27FC236}">
                <a16:creationId xmlns:a16="http://schemas.microsoft.com/office/drawing/2014/main" id="{483CF3AA-AE92-AC7D-C949-E072AF8D926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6817773" y="362758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algn="r">
              <a:defRPr/>
            </a:pPr>
            <a:fld id="{31D2AF66-2CC9-4096-93A7-7B5251E3AAA6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673136" y="3683480"/>
            <a:ext cx="6786652" cy="1250830"/>
          </a:xfrm>
          <a:prstGeom prst="rect">
            <a:avLst/>
          </a:prstGeom>
        </p:spPr>
        <p:txBody>
          <a:bodyPr lIns="91440" tIns="45720" rIns="0" bIns="45720" anchor="b"/>
          <a:lstStyle>
            <a:lvl1pPr algn="r">
              <a:buClr>
                <a:srgbClr val="23A092"/>
              </a:buClr>
              <a:buFont typeface="Wingdings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631825" indent="-285750">
              <a:buClr>
                <a:srgbClr val="23A092"/>
              </a:buClr>
              <a:buSzPct val="80000"/>
              <a:buFont typeface="Wingdings" pitchFamily="2" charset="2"/>
              <a:buNone/>
              <a:defRPr sz="1600">
                <a:solidFill>
                  <a:srgbClr val="23A092"/>
                </a:solidFill>
              </a:defRPr>
            </a:lvl2pPr>
            <a:lvl3pPr marL="900113" indent="-269875">
              <a:buClr>
                <a:srgbClr val="23A092"/>
              </a:buClr>
              <a:buSzPct val="70000"/>
              <a:buFont typeface="Wingdings" pitchFamily="2" charset="2"/>
              <a:buNone/>
              <a:defRPr sz="1600">
                <a:solidFill>
                  <a:srgbClr val="1C1C1C"/>
                </a:solidFill>
              </a:defRPr>
            </a:lvl3pPr>
            <a:lvl4pPr marL="1165225" indent="-268288">
              <a:buClr>
                <a:srgbClr val="23A092"/>
              </a:buClr>
              <a:buSzPct val="60000"/>
              <a:buFont typeface="Wingdings" pitchFamily="2" charset="2"/>
              <a:buNone/>
              <a:defRPr sz="1500">
                <a:solidFill>
                  <a:srgbClr val="23A092"/>
                </a:solidFill>
              </a:defRPr>
            </a:lvl4pPr>
            <a:lvl5pPr marL="1527175" indent="-268288">
              <a:buClr>
                <a:srgbClr val="23A092"/>
              </a:buClr>
              <a:buSzPct val="50000"/>
              <a:buFont typeface="Wingdings" pitchFamily="2" charset="2"/>
              <a:buNone/>
              <a:defRPr sz="1500">
                <a:solidFill>
                  <a:srgbClr val="1C1C1C"/>
                </a:solidFill>
              </a:defRPr>
            </a:lvl5pPr>
          </a:lstStyle>
          <a:p>
            <a:pPr lvl="0"/>
            <a:r>
              <a:rPr lang="de-DE" dirty="0"/>
              <a:t>Zwischenüberschrift</a:t>
            </a:r>
          </a:p>
        </p:txBody>
      </p:sp>
      <p:sp>
        <p:nvSpPr>
          <p:cNvPr id="6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20ACF06-F49E-48F8-93E0-AF3EA63EDF2A}" type="datetime1">
              <a:rPr lang="de-DE" smtClean="0"/>
              <a:t>10.08.2026</a:t>
            </a:fld>
            <a:endParaRPr lang="de-DE" dirty="0"/>
          </a:p>
        </p:txBody>
      </p:sp>
      <p:sp>
        <p:nvSpPr>
          <p:cNvPr id="7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5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6E8EB38-D915-47DC-B7C1-1DD02A987781}" type="datetime1">
              <a:rPr lang="de-DE" smtClean="0"/>
              <a:t>10.08.2026</a:t>
            </a:fld>
            <a:endParaRPr lang="de-DE" dirty="0"/>
          </a:p>
        </p:txBody>
      </p:sp>
      <p:cxnSp>
        <p:nvCxnSpPr>
          <p:cNvPr id="24" name="Gerade Verbindung 10"/>
          <p:cNvCxnSpPr/>
          <p:nvPr userDrawn="1"/>
        </p:nvCxnSpPr>
        <p:spPr>
          <a:xfrm>
            <a:off x="4290248" y="771525"/>
            <a:ext cx="0" cy="562080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16" name="Inhaltsplatzhalter 2"/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4188076" cy="5619850"/>
          </a:xfrm>
          <a:prstGeom prst="rect">
            <a:avLst/>
          </a:prstGeom>
        </p:spPr>
        <p:txBody>
          <a:bodyPr lIns="0" tIns="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12E850D-247C-48BD-B81F-4EE8600745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96026" y="800100"/>
            <a:ext cx="4182298" cy="5619850"/>
          </a:xfrm>
          <a:prstGeom prst="rect">
            <a:avLst/>
          </a:prstGeom>
        </p:spPr>
        <p:txBody>
          <a:bodyPr lIns="9000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C875F3BE-7E40-4688-BACA-354E1482280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38" y="6119587"/>
            <a:ext cx="4186488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BB7A347-AAD3-423D-BA5E-FD8003ABC3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8CC9227-81B8-4B4A-AF1A-4A6C0766EE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: 2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erade Verbindung 8"/>
          <p:cNvCxnSpPr/>
          <p:nvPr userDrawn="1"/>
        </p:nvCxnSpPr>
        <p:spPr>
          <a:xfrm>
            <a:off x="138113" y="3581929"/>
            <a:ext cx="815980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4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758AFF2-33CC-4177-A4E2-4735D6252945}" type="datetime1">
              <a:rPr lang="de-DE" smtClean="0"/>
              <a:t>10.08.2026</a:t>
            </a:fld>
            <a:endParaRPr lang="de-DE" dirty="0"/>
          </a:p>
        </p:txBody>
      </p:sp>
      <p:sp>
        <p:nvSpPr>
          <p:cNvPr id="16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6C4076AC-72B8-494B-9D40-242B5CD7C9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8351838" cy="2781828"/>
          </a:xfrm>
          <a:prstGeom prst="rect">
            <a:avLst/>
          </a:prstGeom>
        </p:spPr>
        <p:txBody>
          <a:bodyPr lIns="0" tIns="0" rIns="0" bIns="4680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D25495-5902-473F-B591-6E8DB1A07A0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7950" y="3581929"/>
            <a:ext cx="8351838" cy="2781828"/>
          </a:xfrm>
          <a:prstGeom prst="rect">
            <a:avLst/>
          </a:prstGeom>
        </p:spPr>
        <p:txBody>
          <a:bodyPr lIns="0" tIns="4680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FD86FD6A-3595-4937-BD23-89D5A39037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1259F72-4DD5-4411-A834-7B18606DA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8735B2C8-9063-443E-9E4A-436DA7847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 Verbindung 10"/>
          <p:cNvCxnSpPr/>
          <p:nvPr userDrawn="1"/>
        </p:nvCxnSpPr>
        <p:spPr>
          <a:xfrm>
            <a:off x="4290248" y="771525"/>
            <a:ext cx="0" cy="562080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21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4BF86D-ADA8-49AB-A7F6-FF4F75F89659}" type="datetime1">
              <a:rPr lang="de-DE" smtClean="0"/>
              <a:t>10.08.2026</a:t>
            </a:fld>
            <a:endParaRPr lang="de-DE" dirty="0"/>
          </a:p>
        </p:txBody>
      </p:sp>
      <p:cxnSp>
        <p:nvCxnSpPr>
          <p:cNvPr id="23" name="Gerade Verbindung 8"/>
          <p:cNvCxnSpPr/>
          <p:nvPr userDrawn="1"/>
        </p:nvCxnSpPr>
        <p:spPr>
          <a:xfrm>
            <a:off x="138113" y="3581929"/>
            <a:ext cx="815980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652CB310-A0F4-4552-A54B-83D5CCEDC7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50" y="800100"/>
            <a:ext cx="4188076" cy="2781829"/>
          </a:xfrm>
          <a:prstGeom prst="rect">
            <a:avLst/>
          </a:prstGeom>
        </p:spPr>
        <p:txBody>
          <a:bodyPr lIns="0" tIns="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58369E87-075C-426D-AE0C-1E46037B454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7950" y="3581929"/>
            <a:ext cx="4188076" cy="2834746"/>
          </a:xfrm>
          <a:prstGeom prst="rect">
            <a:avLst/>
          </a:prstGeom>
        </p:spPr>
        <p:txBody>
          <a:bodyPr lIns="0" tIns="46800" rIns="9000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0994D254-9C4B-4DCA-971C-F5971314F5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6026" y="800100"/>
            <a:ext cx="4188076" cy="2781829"/>
          </a:xfrm>
          <a:prstGeom prst="rect">
            <a:avLst/>
          </a:prstGeom>
        </p:spPr>
        <p:txBody>
          <a:bodyPr lIns="90000" tIns="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C3758986-AC9C-4363-B8AE-541C2E5AADC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96026" y="3581929"/>
            <a:ext cx="4188076" cy="2834746"/>
          </a:xfrm>
          <a:prstGeom prst="rect">
            <a:avLst/>
          </a:prstGeom>
        </p:spPr>
        <p:txBody>
          <a:bodyPr lIns="90000" tIns="46800" rIns="0" bIns="0"/>
          <a:lstStyle>
            <a:lvl1pPr marL="0" indent="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8325FAEE-5F3A-4019-9431-8BC1A4A5F7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9538" y="6119587"/>
            <a:ext cx="4188076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C91F9282-4004-4264-A997-EFC0DAEF75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78F3D2F-0192-420B-B0A2-58E083CBAD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71231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0" y="328613"/>
            <a:ext cx="8344800" cy="344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10" name="Rectangle 4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89434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3" name="Rectangle 43"/>
          <p:cNvSpPr>
            <a:spLocks noGrp="1" noChangeArrowheads="1"/>
          </p:cNvSpPr>
          <p:nvPr>
            <p:ph type="dt" sz="half" idx="12"/>
          </p:nvPr>
        </p:nvSpPr>
        <p:spPr>
          <a:xfrm>
            <a:off x="17940" y="6571896"/>
            <a:ext cx="1524000" cy="283234"/>
          </a:xfrm>
          <a:prstGeom prst="rect">
            <a:avLst/>
          </a:prstGeom>
          <a:ln/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850BB6A-027D-4023-9B40-108BD355059D}" type="datetime1">
              <a:rPr lang="de-DE" smtClean="0"/>
              <a:t>10.08.2026</a:t>
            </a:fld>
            <a:endParaRPr lang="de-DE" dirty="0"/>
          </a:p>
        </p:txBody>
      </p:sp>
      <p:sp>
        <p:nvSpPr>
          <p:cNvPr id="15" name="Rectangle 42"/>
          <p:cNvSpPr>
            <a:spLocks noGrp="1" noChangeArrowheads="1"/>
          </p:cNvSpPr>
          <p:nvPr>
            <p:ph type="ftr" sz="quarter" idx="11"/>
          </p:nvPr>
        </p:nvSpPr>
        <p:spPr>
          <a:xfrm>
            <a:off x="1790700" y="6571896"/>
            <a:ext cx="5562600" cy="283234"/>
          </a:xfrm>
          <a:prstGeom prst="rect">
            <a:avLst/>
          </a:prstGeom>
          <a:ln/>
        </p:spPr>
        <p:txBody>
          <a:bodyPr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9F05F16-3A52-45BF-9CBC-542DC4822F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000" y="800100"/>
            <a:ext cx="8351788" cy="56198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2pPr>
            <a:lvl3pPr marL="271463" indent="-271463" algn="l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</a:defRPr>
            </a:lvl3pPr>
            <a:lvl4pPr marL="268288" indent="0" algn="l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</a:defRPr>
            </a:lvl4pPr>
            <a:lvl5pPr marL="541338" indent="-269875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</a:defRPr>
            </a:lvl5pPr>
            <a:lvl6pPr marL="541338" indent="0" algn="l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6pPr>
            <a:lvl7pPr marL="804863" indent="-228600" algn="l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7pPr>
            <a:lvl8pPr marL="804863" indent="0" algn="l">
              <a:spcBef>
                <a:spcPts val="0"/>
              </a:spcBef>
              <a:spcAft>
                <a:spcPts val="300"/>
              </a:spcAft>
              <a:buNone/>
              <a:defRPr sz="1600"/>
            </a:lvl8pPr>
          </a:lstStyle>
          <a:p>
            <a:pPr lvl="0"/>
            <a:r>
              <a:rPr lang="de-DE" dirty="0"/>
              <a:t>Überschrift</a:t>
            </a:r>
          </a:p>
          <a:p>
            <a:pPr lvl="1"/>
            <a:r>
              <a:rPr lang="de-DE" dirty="0"/>
              <a:t>Textebene 1</a:t>
            </a:r>
          </a:p>
          <a:p>
            <a:pPr lvl="2"/>
            <a:r>
              <a:rPr lang="de-DE" dirty="0"/>
              <a:t>Listenebene 1</a:t>
            </a:r>
          </a:p>
          <a:p>
            <a:pPr lvl="3"/>
            <a:r>
              <a:rPr lang="de-DE" dirty="0"/>
              <a:t>Textebene 2</a:t>
            </a:r>
          </a:p>
          <a:p>
            <a:pPr lvl="4"/>
            <a:r>
              <a:rPr lang="de-DE" dirty="0"/>
              <a:t>Listenebene 2</a:t>
            </a:r>
          </a:p>
          <a:p>
            <a:pPr lvl="5"/>
            <a:r>
              <a:rPr lang="de-DE" dirty="0"/>
              <a:t>Textebene 3</a:t>
            </a:r>
          </a:p>
          <a:p>
            <a:pPr lvl="6"/>
            <a:r>
              <a:rPr lang="de-DE" dirty="0"/>
              <a:t>Listenebene 3</a:t>
            </a:r>
          </a:p>
          <a:p>
            <a:pPr lvl="7"/>
            <a:r>
              <a:rPr lang="de-DE" dirty="0"/>
              <a:t>Textebene 4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46D1816B-1B41-4E61-BFDC-3EB1A71F1D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119587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6488099D-5961-495C-87C1-6251B66F9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6" y="21167"/>
            <a:ext cx="8320017" cy="356288"/>
          </a:xfrm>
          <a:prstGeom prst="rect">
            <a:avLst/>
          </a:prstGeom>
        </p:spPr>
        <p:txBody>
          <a:bodyPr anchor="b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Abschnittsbereich / Oberthema (optional)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47E61A00-62C4-4E10-90FB-9D484BD695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756" y="292660"/>
            <a:ext cx="8335120" cy="360064"/>
          </a:xfrm>
          <a:prstGeom prst="rect">
            <a:avLst/>
          </a:prstGeom>
        </p:spPr>
        <p:txBody>
          <a:bodyPr anchor="t"/>
          <a:lstStyle>
            <a:lvl1pPr algn="l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ACCB45B-DC4A-4746-B6DB-FAC2F18E5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538" y="6475414"/>
            <a:ext cx="8350250" cy="296862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Quellenangaben</a:t>
            </a:r>
          </a:p>
        </p:txBody>
      </p:sp>
    </p:spTree>
    <p:extLst>
      <p:ext uri="{BB962C8B-B14F-4D97-AF65-F5344CB8AC3E}">
        <p14:creationId xmlns:p14="http://schemas.microsoft.com/office/powerpoint/2010/main" val="421457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0A28A88-E595-4778-A47C-03924397B47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238" y="135028"/>
            <a:ext cx="540000" cy="540000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22237" y="6516510"/>
            <a:ext cx="8892000" cy="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122400" y="651944"/>
            <a:ext cx="8222400" cy="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C563E-E41B-8C30-5068-0B8942945D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093075" y="6642100"/>
            <a:ext cx="101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Öffentlich /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35" r:id="rId2"/>
    <p:sldLayoutId id="2147483749" r:id="rId3"/>
    <p:sldLayoutId id="2147483746" r:id="rId4"/>
    <p:sldLayoutId id="2147483748" r:id="rId5"/>
    <p:sldLayoutId id="2147483747" r:id="rId6"/>
    <p:sldLayoutId id="2147483750" r:id="rId7"/>
    <p:sldLayoutId id="2147483751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3A092"/>
          </a:solidFill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-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+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o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42" userDrawn="1">
          <p15:clr>
            <a:srgbClr val="A4A3A4"/>
          </p15:clr>
        </p15:guide>
        <p15:guide id="4" orient="horz" pos="2273" userDrawn="1">
          <p15:clr>
            <a:srgbClr val="A4A3A4"/>
          </p15:clr>
        </p15:guide>
        <p15:guide id="6" orient="horz" pos="504" userDrawn="1">
          <p15:clr>
            <a:srgbClr val="A4A3A4"/>
          </p15:clr>
        </p15:guide>
        <p15:guide id="8" pos="2699" userDrawn="1">
          <p15:clr>
            <a:srgbClr val="A4A3A4"/>
          </p15:clr>
        </p15:guide>
        <p15:guide id="9" pos="5329" userDrawn="1">
          <p15:clr>
            <a:srgbClr val="A4A3A4"/>
          </p15:clr>
        </p15:guide>
        <p15:guide id="10" pos="5692" userDrawn="1">
          <p15:clr>
            <a:srgbClr val="A4A3A4"/>
          </p15:clr>
        </p15:guide>
        <p15:guide id="11" pos="6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EAC255B-5246-44BD-8046-9660027622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50206" y="2468771"/>
            <a:ext cx="3761456" cy="1448115"/>
          </a:xfrm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br>
              <a:rPr lang="de-DE" sz="2800" noProof="0" dirty="0"/>
            </a:br>
            <a:r>
              <a:rPr lang="de-DE" sz="2800" noProof="0" dirty="0"/>
              <a:t>Kolloquium zur Bachelorthesis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38E5752-D578-4AAA-AD96-510A2A0B98E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1152" y="5187616"/>
            <a:ext cx="3448635" cy="691496"/>
          </a:xfrm>
        </p:spPr>
        <p:txBody>
          <a:bodyPr/>
          <a:lstStyle/>
          <a:p>
            <a:r>
              <a:rPr lang="de-DE" noProof="0" dirty="0"/>
              <a:t>von Meshan Fernando</a:t>
            </a:r>
            <a:br>
              <a:rPr lang="de-DE" noProof="0" dirty="0"/>
            </a:br>
            <a:r>
              <a:rPr lang="de-DE" noProof="0" dirty="0"/>
              <a:t>Matrikelnummer: 617993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501D19-7237-4DFE-94C0-3E6A0DED651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7222" y="4084089"/>
            <a:ext cx="8022566" cy="966957"/>
          </a:xfrm>
        </p:spPr>
        <p:txBody>
          <a:bodyPr/>
          <a:lstStyle/>
          <a:p>
            <a:r>
              <a:rPr lang="de-DE" noProof="0" dirty="0"/>
              <a:t>Wie funktionieren KI-gestützte Monitoring-Systeme als digitale Informationssysteme und inwiefern ermöglichen sie datenbasierte Analyse und Beeinflussung von Verhalten?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9DC71-1704-319A-5805-16EB806B2ED4}"/>
              </a:ext>
            </a:extLst>
          </p:cNvPr>
          <p:cNvSpPr txBox="1"/>
          <p:nvPr/>
        </p:nvSpPr>
        <p:spPr bwMode="auto">
          <a:xfrm>
            <a:off x="3887788" y="6015683"/>
            <a:ext cx="4572000" cy="646331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de-DE" sz="1800" noProof="0" dirty="0"/>
              <a:t>Erstgutachter: Dr. phil. Patrick Hedfeld</a:t>
            </a:r>
            <a:br>
              <a:rPr lang="de-DE" sz="1800" noProof="0" dirty="0"/>
            </a:br>
            <a:r>
              <a:rPr lang="de-DE" sz="1800" noProof="0" dirty="0"/>
              <a:t>Zweitgutachter: Prof. Dr. Dieter Litzinger</a:t>
            </a:r>
          </a:p>
        </p:txBody>
      </p:sp>
    </p:spTree>
    <p:extLst>
      <p:ext uri="{BB962C8B-B14F-4D97-AF65-F5344CB8AC3E}">
        <p14:creationId xmlns:p14="http://schemas.microsoft.com/office/powerpoint/2010/main" val="407990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endParaRPr lang="de-DE" noProof="0" dirty="0">
              <a:solidFill>
                <a:srgbClr val="00998A"/>
              </a:solidFill>
            </a:endParaRPr>
          </a:p>
          <a:p>
            <a:pPr marL="342900" lvl="0" indent="-342900">
              <a:spcBef>
                <a:spcPct val="20000"/>
              </a:spcBef>
              <a:spcAft>
                <a:spcPct val="0"/>
              </a:spcAft>
            </a:pPr>
            <a:r>
              <a:rPr lang="de-DE" noProof="0" dirty="0">
                <a:solidFill>
                  <a:srgbClr val="00998A"/>
                </a:solidFill>
              </a:rPr>
              <a:t>© FOM Hochschule für </a:t>
            </a:r>
            <a:r>
              <a:rPr lang="de-DE" noProof="0" dirty="0" err="1">
                <a:solidFill>
                  <a:srgbClr val="00998A"/>
                </a:solidFill>
              </a:rPr>
              <a:t>Oekonomie</a:t>
            </a:r>
            <a:r>
              <a:rPr lang="de-DE" noProof="0" dirty="0">
                <a:solidFill>
                  <a:srgbClr val="00998A"/>
                </a:solidFill>
              </a:rPr>
              <a:t> &amp; Management</a:t>
            </a:r>
          </a:p>
          <a:p>
            <a:pPr lvl="0">
              <a:spcBef>
                <a:spcPct val="20000"/>
              </a:spcBef>
              <a:spcAft>
                <a:spcPct val="0"/>
              </a:spcAft>
            </a:pPr>
            <a:r>
              <a:rPr lang="de-DE" sz="1700" noProof="0" dirty="0">
                <a:solidFill>
                  <a:srgbClr val="00998A"/>
                </a:solidFill>
              </a:rPr>
              <a:t>gemeinnützige Gesellschaft mbH (FOM), Leimkugelstraße 6, 45141 Essen</a:t>
            </a:r>
          </a:p>
          <a:p>
            <a:pPr lvl="0">
              <a:spcBef>
                <a:spcPct val="20000"/>
              </a:spcBef>
              <a:spcAft>
                <a:spcPct val="0"/>
              </a:spcAft>
            </a:pPr>
            <a:endParaRPr lang="de-DE" sz="1400" b="0" noProof="0" dirty="0">
              <a:solidFill>
                <a:srgbClr val="00998A"/>
              </a:solidFill>
            </a:endParaRPr>
          </a:p>
          <a:p>
            <a:r>
              <a:rPr lang="de-DE" sz="1400" b="0" noProof="0" dirty="0">
                <a:solidFill>
                  <a:schemeClr val="tx2"/>
                </a:solidFill>
              </a:rPr>
              <a:t>Dieses Werk ist urheberrechtlich geschützt und nur für den persönlichen Gebrauch im Rahmen der Veranstaltungen der FOM bestimmt.</a:t>
            </a:r>
          </a:p>
          <a:p>
            <a:r>
              <a:rPr lang="de-DE" sz="1400" b="0" noProof="0" dirty="0">
                <a:solidFill>
                  <a:schemeClr val="tx2"/>
                </a:solidFill>
              </a:rPr>
              <a:t>Die durch die Urheberschaft begründeten Rechte (u. a. Vervielfältigung, Verbreitung, Übersetzung, Nachdruck) bleiben dem Urheber vorbehalten.</a:t>
            </a:r>
          </a:p>
          <a:p>
            <a:r>
              <a:rPr lang="de-DE" sz="1400" b="0" noProof="0" dirty="0">
                <a:solidFill>
                  <a:schemeClr val="tx2"/>
                </a:solidFill>
              </a:rPr>
              <a:t>Das Werk oder Teile daraus dürfen nicht ohne schriftliche Genehmigung des Urhebers / der FOM reproduziert oder unter Verwendung elektronischer Systeme verarbeitet, vervielfältigt oder verbreitet werden. Dies schließt auch den Upload in soziale Medien oder andere digitale Plattformen ein.</a:t>
            </a:r>
          </a:p>
          <a:p>
            <a:endParaRPr lang="de-DE" noProof="0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Copyright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5D529-6F84-5A31-754B-AFCE18971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5E11F5-FC9D-1C48-DDD0-B504DB1B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D833F8C-4EAA-18A4-145B-763E34B1A10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F9730288-FB33-4C1B-AE90-C3AF8E2D2487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4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de-DE" noProof="0" dirty="0"/>
          </a:p>
          <a:p>
            <a:pPr marL="717550" lvl="2"/>
            <a:endParaRPr lang="de-DE" noProof="0" dirty="0"/>
          </a:p>
        </p:txBody>
      </p:sp>
      <p:graphicFrame>
        <p:nvGraphicFramePr>
          <p:cNvPr id="9" name="Inhaltsplatzhalter 7">
            <a:extLst>
              <a:ext uri="{FF2B5EF4-FFF2-40B4-BE49-F238E27FC236}">
                <a16:creationId xmlns:a16="http://schemas.microsoft.com/office/drawing/2014/main" id="{0FBE01BC-15B9-4E0B-9E3B-1AF2B5D90C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941661"/>
              </p:ext>
            </p:extLst>
          </p:nvPr>
        </p:nvGraphicFramePr>
        <p:xfrm>
          <a:off x="141276" y="1383557"/>
          <a:ext cx="8894724" cy="3842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889">
                  <a:extLst>
                    <a:ext uri="{9D8B030D-6E8A-4147-A177-3AD203B41FA5}">
                      <a16:colId xmlns:a16="http://schemas.microsoft.com/office/drawing/2014/main" val="2209895904"/>
                    </a:ext>
                  </a:extLst>
                </a:gridCol>
              </a:tblGrid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de-DE" sz="1600" b="0" noProof="0" dirty="0">
                        <a:solidFill>
                          <a:schemeClr val="tx1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>
                          <a:solidFill>
                            <a:schemeClr val="tx1"/>
                          </a:solidFill>
                        </a:rPr>
                        <a:t>Motivation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de-DE" sz="16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b="0" noProof="0" dirty="0"/>
                        <a:t>2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Methodik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378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de-DE" sz="1600" b="0" noProof="0" dirty="0"/>
                        <a:t>3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Funktionsweise eines KI-gestützten Monitoring-Systems</a:t>
                      </a: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de-DE" sz="1600" b="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264"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b="0" kern="1200" noProof="0" dirty="0"/>
                        <a:t>4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de-DE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Zentrale Ergebnisse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72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b="0" kern="12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noProof="0" dirty="0"/>
                        <a:t>Kritische Würdigung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+mn-lt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938832"/>
                  </a:ext>
                </a:extLst>
              </a:tr>
              <a:tr h="66726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b="0" kern="1200" noProof="0" dirty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Arial"/>
                          <a:ea typeface="Times New Roman"/>
                          <a:cs typeface="Arial"/>
                        </a:rPr>
                        <a:t>6</a:t>
                      </a: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de-DE" sz="1600" noProof="0" dirty="0"/>
                        <a:t>Fazit &amp; Ausblick</a:t>
                      </a: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endParaRPr lang="de-DE" sz="1600" b="0" kern="1200" noProof="0" dirty="0">
                        <a:solidFill>
                          <a:schemeClr val="tx2">
                            <a:lumMod val="50000"/>
                          </a:schemeClr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0092" marR="70092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29430"/>
                  </a:ext>
                </a:extLst>
              </a:tr>
            </a:tbl>
          </a:graphicData>
        </a:graphic>
      </p:graphicFrame>
      <p:sp>
        <p:nvSpPr>
          <p:cNvPr id="5" name="Textplatzhalter 6">
            <a:extLst>
              <a:ext uri="{FF2B5EF4-FFF2-40B4-BE49-F238E27FC236}">
                <a16:creationId xmlns:a16="http://schemas.microsoft.com/office/drawing/2014/main" id="{E3DBE2D1-E7FD-AA2C-54D1-64C63CC6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56" y="271231"/>
            <a:ext cx="8335120" cy="360064"/>
          </a:xfrm>
        </p:spPr>
        <p:txBody>
          <a:bodyPr/>
          <a:lstStyle/>
          <a:p>
            <a:r>
              <a:rPr lang="de-DE" noProof="0" dirty="0"/>
              <a:t>Agenda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4653F-399D-CF44-FF12-D3A1C2D24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06ADA-3EAB-D98B-C632-AD0E52E6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A87657-797B-CEF4-07F8-3FB613C596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D4C9370B-3F24-471E-BDF9-C2448B523864}" type="datetime1">
              <a:rPr lang="de-DE" smtClean="0"/>
              <a:t>10.08.2026</a:t>
            </a:fld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146D5C-0265-BCBE-363E-F70DFEDC7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1. Motivation</a:t>
            </a:r>
          </a:p>
          <a:p>
            <a:endParaRPr lang="de-DE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F53ECF-7298-ACD5-9F41-34422BF2A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noProof="0" dirty="0"/>
              <a:t>Quellen:</a:t>
            </a:r>
            <a:br>
              <a:rPr lang="de-DE" noProof="0" dirty="0"/>
            </a:br>
            <a:r>
              <a:rPr lang="de-DE" noProof="0" dirty="0"/>
              <a:t>Vgl. K. C. Laudon &amp; J. P. Laudon 2018, S. 56–58; Vgl. </a:t>
            </a:r>
            <a:r>
              <a:rPr lang="de-DE" noProof="0" dirty="0" err="1"/>
              <a:t>Zuboff</a:t>
            </a:r>
            <a:r>
              <a:rPr lang="de-DE" noProof="0" dirty="0"/>
              <a:t> 2019, S. 14–16; Vgl. Kitchin 2014, S. 722.</a:t>
            </a:r>
          </a:p>
        </p:txBody>
      </p:sp>
      <p:sp>
        <p:nvSpPr>
          <p:cNvPr id="9" name="AutoShape 2" descr="A professional office scene where an employee is discussing a raise with their boss. The employee sits confidently on one side of the desk, making direct eye contact, while the boss listens attentively, leaning slightly forward. The desk has a laptop, notepad, and a cup of coffee, and the office features a modern design with large windows and bookshelves in the background. The atmosphere is respectful and formal, reflecting a productive negotiation.">
            <a:extLst>
              <a:ext uri="{FF2B5EF4-FFF2-40B4-BE49-F238E27FC236}">
                <a16:creationId xmlns:a16="http://schemas.microsoft.com/office/drawing/2014/main" id="{55803535-F79A-8FEB-0354-FE88301918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D831E4-7031-FE88-A47B-B4C458E89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6" y="1035722"/>
            <a:ext cx="9051918" cy="37642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358EDE-3D52-296C-7DE3-3FFDB29FFBB1}"/>
              </a:ext>
            </a:extLst>
          </p:cNvPr>
          <p:cNvSpPr txBox="1"/>
          <p:nvPr/>
        </p:nvSpPr>
        <p:spPr bwMode="auto">
          <a:xfrm>
            <a:off x="21756" y="4821623"/>
            <a:ext cx="2924784" cy="7386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400" b="1" noProof="0" dirty="0">
                <a:latin typeface="+mn-lt"/>
              </a:rPr>
              <a:t>Zunehmende Digitalisierung und datengetriebene Plattformen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7E543-6FE5-7EC8-1B6A-38DBBEDF79C4}"/>
              </a:ext>
            </a:extLst>
          </p:cNvPr>
          <p:cNvSpPr txBox="1"/>
          <p:nvPr/>
        </p:nvSpPr>
        <p:spPr bwMode="auto">
          <a:xfrm>
            <a:off x="3128211" y="4901127"/>
            <a:ext cx="2712120" cy="5232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400" b="1" noProof="0" dirty="0">
                <a:latin typeface="+mn-lt"/>
              </a:rPr>
              <a:t>KI analysiert und bewertet menschliches Verhalten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72625F-F657-620D-4424-DC2C4D3CF606}"/>
              </a:ext>
            </a:extLst>
          </p:cNvPr>
          <p:cNvSpPr txBox="1"/>
          <p:nvPr/>
        </p:nvSpPr>
        <p:spPr bwMode="auto">
          <a:xfrm>
            <a:off x="6339556" y="4864316"/>
            <a:ext cx="2721812" cy="7386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400" b="1" noProof="0" dirty="0">
                <a:latin typeface="+mn-lt"/>
              </a:rPr>
              <a:t>Gesellschaftliche Relevanz algorithmischer Entscheidungen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A73C11-6546-BAE7-273D-C0574211F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1F878509-BEE3-37F1-CB93-1E28AA3C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FEDD71DD-1680-85D3-BD99-8B59ED096E9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B82F0CBE-C10A-457A-B840-EECBD0309612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887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B21166-93AF-F9F6-CF40-CD2AF237E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981" y="65553"/>
            <a:ext cx="8335120" cy="360064"/>
          </a:xfrm>
        </p:spPr>
        <p:txBody>
          <a:bodyPr/>
          <a:lstStyle/>
          <a:p>
            <a:r>
              <a:rPr lang="de-DE" noProof="0" dirty="0"/>
              <a:t>2. Methodik</a:t>
            </a:r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6DA4353E-6255-7F69-981F-23EA73267DDC}"/>
              </a:ext>
            </a:extLst>
          </p:cNvPr>
          <p:cNvSpPr>
            <a:spLocks noGrp="1"/>
          </p:cNvSpPr>
          <p:nvPr/>
        </p:nvSpPr>
        <p:spPr>
          <a:xfrm>
            <a:off x="114313" y="790952"/>
            <a:ext cx="8351788" cy="561985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1" fontAlgn="base" hangingPunct="1"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Wingdings" pitchFamily="2" charset="2"/>
              <a:buNone/>
              <a:defRPr sz="1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80000"/>
              <a:buFont typeface="Wingdings" pitchFamily="2" charset="2"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271463" indent="-271463" algn="l" rtl="0" eaLnBrk="1" fontAlgn="base" hangingPunct="1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b="0" baseline="0">
                <a:solidFill>
                  <a:schemeClr val="tx1"/>
                </a:solidFill>
                <a:latin typeface="+mn-lt"/>
              </a:defRPr>
            </a:lvl3pPr>
            <a:lvl4pPr marL="268288" indent="0" algn="l" rtl="0" eaLnBrk="1" fontAlgn="base" hangingPunct="1">
              <a:spcBef>
                <a:spcPts val="0"/>
              </a:spcBef>
              <a:spcAft>
                <a:spcPts val="300"/>
              </a:spcAft>
              <a:buClr>
                <a:srgbClr val="23A092"/>
              </a:buClr>
              <a:buSzPct val="90000"/>
              <a:buFont typeface="Wingdings" pitchFamily="2" charset="2"/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541338" indent="-269875" algn="l" rtl="0" eaLnBrk="1" fontAlgn="base" hangingPunct="1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1600" b="0" baseline="0">
                <a:solidFill>
                  <a:schemeClr val="tx1"/>
                </a:solidFill>
                <a:latin typeface="+mn-lt"/>
              </a:defRPr>
            </a:lvl5pPr>
            <a:lvl6pPr marL="541338" indent="0" algn="l" rtl="0" eaLnBrk="1" fontAlgn="base" hangingPunct="1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804863" indent="-228600" algn="l" rtl="0" eaLnBrk="1" fontAlgn="base" hangingPunct="1">
              <a:spcBef>
                <a:spcPts val="0"/>
              </a:spcBef>
              <a:spcAft>
                <a:spcPts val="3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804863" indent="0" algn="l" rtl="0" eaLnBrk="1" fontAlgn="base" hangingPunct="1"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noProof="0" dirty="0"/>
          </a:p>
        </p:txBody>
      </p:sp>
      <p:sp>
        <p:nvSpPr>
          <p:cNvPr id="23" name="Textfeld 9">
            <a:extLst>
              <a:ext uri="{FF2B5EF4-FFF2-40B4-BE49-F238E27FC236}">
                <a16:creationId xmlns:a16="http://schemas.microsoft.com/office/drawing/2014/main" id="{1D4127E0-ADEF-EDDA-BBC6-E7C29D924779}"/>
              </a:ext>
            </a:extLst>
          </p:cNvPr>
          <p:cNvSpPr txBox="1"/>
          <p:nvPr/>
        </p:nvSpPr>
        <p:spPr>
          <a:xfrm>
            <a:off x="1989149" y="802227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Forschungsfrage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4" name="Textfeld 10">
            <a:extLst>
              <a:ext uri="{FF2B5EF4-FFF2-40B4-BE49-F238E27FC236}">
                <a16:creationId xmlns:a16="http://schemas.microsoft.com/office/drawing/2014/main" id="{D08BF475-DD1A-9A70-08AB-A8144F3CBCB1}"/>
              </a:ext>
            </a:extLst>
          </p:cNvPr>
          <p:cNvSpPr txBox="1"/>
          <p:nvPr/>
        </p:nvSpPr>
        <p:spPr>
          <a:xfrm>
            <a:off x="1996434" y="1710838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Literaturrecherche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5" name="Textfeld 11">
            <a:extLst>
              <a:ext uri="{FF2B5EF4-FFF2-40B4-BE49-F238E27FC236}">
                <a16:creationId xmlns:a16="http://schemas.microsoft.com/office/drawing/2014/main" id="{5092CAA8-6F33-5379-2B60-37E55B867B87}"/>
              </a:ext>
            </a:extLst>
          </p:cNvPr>
          <p:cNvSpPr txBox="1"/>
          <p:nvPr/>
        </p:nvSpPr>
        <p:spPr>
          <a:xfrm>
            <a:off x="1978301" y="2616992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Quellenauswahl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6" name="Textfeld 17">
            <a:extLst>
              <a:ext uri="{FF2B5EF4-FFF2-40B4-BE49-F238E27FC236}">
                <a16:creationId xmlns:a16="http://schemas.microsoft.com/office/drawing/2014/main" id="{5A0BFE6B-D72E-12B7-D410-519109342C01}"/>
              </a:ext>
            </a:extLst>
          </p:cNvPr>
          <p:cNvSpPr txBox="1"/>
          <p:nvPr/>
        </p:nvSpPr>
        <p:spPr>
          <a:xfrm>
            <a:off x="1989148" y="3536878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Literaturanalyse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7" name="Pfeil nach unten 18">
            <a:extLst>
              <a:ext uri="{FF2B5EF4-FFF2-40B4-BE49-F238E27FC236}">
                <a16:creationId xmlns:a16="http://schemas.microsoft.com/office/drawing/2014/main" id="{6CCC1406-3C92-1559-9463-97CED19CB88D}"/>
              </a:ext>
            </a:extLst>
          </p:cNvPr>
          <p:cNvSpPr/>
          <p:nvPr/>
        </p:nvSpPr>
        <p:spPr>
          <a:xfrm>
            <a:off x="4920562" y="1231312"/>
            <a:ext cx="618878" cy="381000"/>
          </a:xfrm>
          <a:prstGeom prst="downArrow">
            <a:avLst>
              <a:gd name="adj1" fmla="val 73311"/>
              <a:gd name="adj2" fmla="val 3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Pfeil nach unten 19">
            <a:extLst>
              <a:ext uri="{FF2B5EF4-FFF2-40B4-BE49-F238E27FC236}">
                <a16:creationId xmlns:a16="http://schemas.microsoft.com/office/drawing/2014/main" id="{B0DC5571-97E2-1B9B-4C75-2AB96FC69415}"/>
              </a:ext>
            </a:extLst>
          </p:cNvPr>
          <p:cNvSpPr/>
          <p:nvPr/>
        </p:nvSpPr>
        <p:spPr>
          <a:xfrm>
            <a:off x="4920562" y="2187215"/>
            <a:ext cx="618878" cy="381000"/>
          </a:xfrm>
          <a:prstGeom prst="downArrow">
            <a:avLst>
              <a:gd name="adj1" fmla="val 73311"/>
              <a:gd name="adj2" fmla="val 3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Pfeil nach unten 20">
            <a:extLst>
              <a:ext uri="{FF2B5EF4-FFF2-40B4-BE49-F238E27FC236}">
                <a16:creationId xmlns:a16="http://schemas.microsoft.com/office/drawing/2014/main" id="{16541A75-EE6E-49AC-5F22-326A959F6385}"/>
              </a:ext>
            </a:extLst>
          </p:cNvPr>
          <p:cNvSpPr/>
          <p:nvPr/>
        </p:nvSpPr>
        <p:spPr>
          <a:xfrm>
            <a:off x="4955598" y="3105037"/>
            <a:ext cx="618878" cy="381000"/>
          </a:xfrm>
          <a:prstGeom prst="downArrow">
            <a:avLst>
              <a:gd name="adj1" fmla="val 73311"/>
              <a:gd name="adj2" fmla="val 3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Freihandform 21">
            <a:extLst>
              <a:ext uri="{FF2B5EF4-FFF2-40B4-BE49-F238E27FC236}">
                <a16:creationId xmlns:a16="http://schemas.microsoft.com/office/drawing/2014/main" id="{24E340CA-407A-2DD7-8351-2F472F0C1701}"/>
              </a:ext>
            </a:extLst>
          </p:cNvPr>
          <p:cNvSpPr/>
          <p:nvPr/>
        </p:nvSpPr>
        <p:spPr>
          <a:xfrm rot="5044515">
            <a:off x="-1589987" y="2595681"/>
            <a:ext cx="5102620" cy="1530879"/>
          </a:xfrm>
          <a:custGeom>
            <a:avLst/>
            <a:gdLst>
              <a:gd name="connsiteX0" fmla="*/ 0 w 1438275"/>
              <a:gd name="connsiteY0" fmla="*/ 178592 h 1400175"/>
              <a:gd name="connsiteX1" fmla="*/ 1157288 w 1438275"/>
              <a:gd name="connsiteY1" fmla="*/ 178592 h 1400175"/>
              <a:gd name="connsiteX2" fmla="*/ 1157288 w 1438275"/>
              <a:gd name="connsiteY2" fmla="*/ 0 h 1400175"/>
              <a:gd name="connsiteX3" fmla="*/ 1438275 w 1438275"/>
              <a:gd name="connsiteY3" fmla="*/ 700088 h 1400175"/>
              <a:gd name="connsiteX4" fmla="*/ 1157288 w 1438275"/>
              <a:gd name="connsiteY4" fmla="*/ 1400175 h 1400175"/>
              <a:gd name="connsiteX5" fmla="*/ 1157288 w 1438275"/>
              <a:gd name="connsiteY5" fmla="*/ 1221583 h 1400175"/>
              <a:gd name="connsiteX6" fmla="*/ 0 w 1438275"/>
              <a:gd name="connsiteY6" fmla="*/ 1221583 h 1400175"/>
              <a:gd name="connsiteX7" fmla="*/ 0 w 1438275"/>
              <a:gd name="connsiteY7" fmla="*/ 178592 h 1400175"/>
              <a:gd name="connsiteX0" fmla="*/ 0 w 1924050"/>
              <a:gd name="connsiteY0" fmla="*/ 378617 h 1400175"/>
              <a:gd name="connsiteX1" fmla="*/ 1643063 w 1924050"/>
              <a:gd name="connsiteY1" fmla="*/ 178592 h 1400175"/>
              <a:gd name="connsiteX2" fmla="*/ 1643063 w 1924050"/>
              <a:gd name="connsiteY2" fmla="*/ 0 h 1400175"/>
              <a:gd name="connsiteX3" fmla="*/ 1924050 w 1924050"/>
              <a:gd name="connsiteY3" fmla="*/ 700088 h 1400175"/>
              <a:gd name="connsiteX4" fmla="*/ 1643063 w 1924050"/>
              <a:gd name="connsiteY4" fmla="*/ 1400175 h 1400175"/>
              <a:gd name="connsiteX5" fmla="*/ 1643063 w 1924050"/>
              <a:gd name="connsiteY5" fmla="*/ 1221583 h 1400175"/>
              <a:gd name="connsiteX6" fmla="*/ 485775 w 1924050"/>
              <a:gd name="connsiteY6" fmla="*/ 1221583 h 1400175"/>
              <a:gd name="connsiteX7" fmla="*/ 0 w 1924050"/>
              <a:gd name="connsiteY7" fmla="*/ 378617 h 1400175"/>
              <a:gd name="connsiteX0" fmla="*/ 228600 w 2152650"/>
              <a:gd name="connsiteY0" fmla="*/ 378617 h 1400175"/>
              <a:gd name="connsiteX1" fmla="*/ 1871663 w 2152650"/>
              <a:gd name="connsiteY1" fmla="*/ 178592 h 1400175"/>
              <a:gd name="connsiteX2" fmla="*/ 1871663 w 2152650"/>
              <a:gd name="connsiteY2" fmla="*/ 0 h 1400175"/>
              <a:gd name="connsiteX3" fmla="*/ 2152650 w 2152650"/>
              <a:gd name="connsiteY3" fmla="*/ 700088 h 1400175"/>
              <a:gd name="connsiteX4" fmla="*/ 1871663 w 2152650"/>
              <a:gd name="connsiteY4" fmla="*/ 1400175 h 1400175"/>
              <a:gd name="connsiteX5" fmla="*/ 1871663 w 2152650"/>
              <a:gd name="connsiteY5" fmla="*/ 1221583 h 1400175"/>
              <a:gd name="connsiteX6" fmla="*/ 0 w 2152650"/>
              <a:gd name="connsiteY6" fmla="*/ 992983 h 1400175"/>
              <a:gd name="connsiteX7" fmla="*/ 228600 w 2152650"/>
              <a:gd name="connsiteY7" fmla="*/ 378617 h 1400175"/>
              <a:gd name="connsiteX0" fmla="*/ -1 w 2467816"/>
              <a:gd name="connsiteY0" fmla="*/ 489889 h 1400175"/>
              <a:gd name="connsiteX1" fmla="*/ 2186829 w 2467816"/>
              <a:gd name="connsiteY1" fmla="*/ 178592 h 1400175"/>
              <a:gd name="connsiteX2" fmla="*/ 2186829 w 2467816"/>
              <a:gd name="connsiteY2" fmla="*/ 0 h 1400175"/>
              <a:gd name="connsiteX3" fmla="*/ 2467816 w 2467816"/>
              <a:gd name="connsiteY3" fmla="*/ 700088 h 1400175"/>
              <a:gd name="connsiteX4" fmla="*/ 2186829 w 2467816"/>
              <a:gd name="connsiteY4" fmla="*/ 1400175 h 1400175"/>
              <a:gd name="connsiteX5" fmla="*/ 2186829 w 2467816"/>
              <a:gd name="connsiteY5" fmla="*/ 1221583 h 1400175"/>
              <a:gd name="connsiteX6" fmla="*/ 315166 w 2467816"/>
              <a:gd name="connsiteY6" fmla="*/ 992983 h 1400175"/>
              <a:gd name="connsiteX7" fmla="*/ -1 w 2467816"/>
              <a:gd name="connsiteY7" fmla="*/ 489889 h 1400175"/>
              <a:gd name="connsiteX0" fmla="*/ 1 w 2467818"/>
              <a:gd name="connsiteY0" fmla="*/ 489889 h 1400175"/>
              <a:gd name="connsiteX1" fmla="*/ 2186831 w 2467818"/>
              <a:gd name="connsiteY1" fmla="*/ 178592 h 1400175"/>
              <a:gd name="connsiteX2" fmla="*/ 2186831 w 2467818"/>
              <a:gd name="connsiteY2" fmla="*/ 0 h 1400175"/>
              <a:gd name="connsiteX3" fmla="*/ 2467818 w 2467818"/>
              <a:gd name="connsiteY3" fmla="*/ 700088 h 1400175"/>
              <a:gd name="connsiteX4" fmla="*/ 2186831 w 2467818"/>
              <a:gd name="connsiteY4" fmla="*/ 1400175 h 1400175"/>
              <a:gd name="connsiteX5" fmla="*/ 2186831 w 2467818"/>
              <a:gd name="connsiteY5" fmla="*/ 1221583 h 1400175"/>
              <a:gd name="connsiteX6" fmla="*/ 297635 w 2467818"/>
              <a:gd name="connsiteY6" fmla="*/ 1012758 h 1400175"/>
              <a:gd name="connsiteX7" fmla="*/ 1 w 2467818"/>
              <a:gd name="connsiteY7" fmla="*/ 489889 h 1400175"/>
              <a:gd name="connsiteX0" fmla="*/ -1 w 2467816"/>
              <a:gd name="connsiteY0" fmla="*/ 489889 h 1400175"/>
              <a:gd name="connsiteX1" fmla="*/ 2186829 w 2467816"/>
              <a:gd name="connsiteY1" fmla="*/ 178592 h 1400175"/>
              <a:gd name="connsiteX2" fmla="*/ 2186829 w 2467816"/>
              <a:gd name="connsiteY2" fmla="*/ 0 h 1400175"/>
              <a:gd name="connsiteX3" fmla="*/ 2467816 w 2467816"/>
              <a:gd name="connsiteY3" fmla="*/ 700088 h 1400175"/>
              <a:gd name="connsiteX4" fmla="*/ 2186829 w 2467816"/>
              <a:gd name="connsiteY4" fmla="*/ 1400175 h 1400175"/>
              <a:gd name="connsiteX5" fmla="*/ 2186829 w 2467816"/>
              <a:gd name="connsiteY5" fmla="*/ 1221583 h 1400175"/>
              <a:gd name="connsiteX6" fmla="*/ 297633 w 2467816"/>
              <a:gd name="connsiteY6" fmla="*/ 1012758 h 1400175"/>
              <a:gd name="connsiteX7" fmla="*/ -1 w 2467816"/>
              <a:gd name="connsiteY7" fmla="*/ 489889 h 1400175"/>
              <a:gd name="connsiteX0" fmla="*/ 1 w 2467818"/>
              <a:gd name="connsiteY0" fmla="*/ 489889 h 1400175"/>
              <a:gd name="connsiteX1" fmla="*/ 2186831 w 2467818"/>
              <a:gd name="connsiteY1" fmla="*/ 178592 h 1400175"/>
              <a:gd name="connsiteX2" fmla="*/ 2186831 w 2467818"/>
              <a:gd name="connsiteY2" fmla="*/ 0 h 1400175"/>
              <a:gd name="connsiteX3" fmla="*/ 2467818 w 2467818"/>
              <a:gd name="connsiteY3" fmla="*/ 700088 h 1400175"/>
              <a:gd name="connsiteX4" fmla="*/ 2186831 w 2467818"/>
              <a:gd name="connsiteY4" fmla="*/ 1400175 h 1400175"/>
              <a:gd name="connsiteX5" fmla="*/ 2186831 w 2467818"/>
              <a:gd name="connsiteY5" fmla="*/ 1221583 h 1400175"/>
              <a:gd name="connsiteX6" fmla="*/ 297635 w 2467818"/>
              <a:gd name="connsiteY6" fmla="*/ 1012758 h 1400175"/>
              <a:gd name="connsiteX7" fmla="*/ 1 w 2467818"/>
              <a:gd name="connsiteY7" fmla="*/ 489889 h 1400175"/>
              <a:gd name="connsiteX0" fmla="*/ -1 w 2467816"/>
              <a:gd name="connsiteY0" fmla="*/ 489889 h 1400175"/>
              <a:gd name="connsiteX1" fmla="*/ 2186829 w 2467816"/>
              <a:gd name="connsiteY1" fmla="*/ 178592 h 1400175"/>
              <a:gd name="connsiteX2" fmla="*/ 2186829 w 2467816"/>
              <a:gd name="connsiteY2" fmla="*/ 0 h 1400175"/>
              <a:gd name="connsiteX3" fmla="*/ 2467816 w 2467816"/>
              <a:gd name="connsiteY3" fmla="*/ 700088 h 1400175"/>
              <a:gd name="connsiteX4" fmla="*/ 2186829 w 2467816"/>
              <a:gd name="connsiteY4" fmla="*/ 1400175 h 1400175"/>
              <a:gd name="connsiteX5" fmla="*/ 2186829 w 2467816"/>
              <a:gd name="connsiteY5" fmla="*/ 1221583 h 1400175"/>
              <a:gd name="connsiteX6" fmla="*/ 297633 w 2467816"/>
              <a:gd name="connsiteY6" fmla="*/ 1012758 h 1400175"/>
              <a:gd name="connsiteX7" fmla="*/ -1 w 2467816"/>
              <a:gd name="connsiteY7" fmla="*/ 489889 h 1400175"/>
              <a:gd name="connsiteX0" fmla="*/ 1 w 2467818"/>
              <a:gd name="connsiteY0" fmla="*/ 489889 h 1400175"/>
              <a:gd name="connsiteX1" fmla="*/ 2186831 w 2467818"/>
              <a:gd name="connsiteY1" fmla="*/ 178592 h 1400175"/>
              <a:gd name="connsiteX2" fmla="*/ 2186831 w 2467818"/>
              <a:gd name="connsiteY2" fmla="*/ 0 h 1400175"/>
              <a:gd name="connsiteX3" fmla="*/ 2467818 w 2467818"/>
              <a:gd name="connsiteY3" fmla="*/ 700088 h 1400175"/>
              <a:gd name="connsiteX4" fmla="*/ 2186831 w 2467818"/>
              <a:gd name="connsiteY4" fmla="*/ 1400175 h 1400175"/>
              <a:gd name="connsiteX5" fmla="*/ 2186831 w 2467818"/>
              <a:gd name="connsiteY5" fmla="*/ 1221583 h 1400175"/>
              <a:gd name="connsiteX6" fmla="*/ 297635 w 2467818"/>
              <a:gd name="connsiteY6" fmla="*/ 1012758 h 1400175"/>
              <a:gd name="connsiteX7" fmla="*/ 1 w 2467818"/>
              <a:gd name="connsiteY7" fmla="*/ 489889 h 1400175"/>
              <a:gd name="connsiteX0" fmla="*/ -1 w 2467816"/>
              <a:gd name="connsiteY0" fmla="*/ 489889 h 1400175"/>
              <a:gd name="connsiteX1" fmla="*/ 2186829 w 2467816"/>
              <a:gd name="connsiteY1" fmla="*/ 178592 h 1400175"/>
              <a:gd name="connsiteX2" fmla="*/ 2186829 w 2467816"/>
              <a:gd name="connsiteY2" fmla="*/ 0 h 1400175"/>
              <a:gd name="connsiteX3" fmla="*/ 2467816 w 2467816"/>
              <a:gd name="connsiteY3" fmla="*/ 700088 h 1400175"/>
              <a:gd name="connsiteX4" fmla="*/ 2186829 w 2467816"/>
              <a:gd name="connsiteY4" fmla="*/ 1400175 h 1400175"/>
              <a:gd name="connsiteX5" fmla="*/ 2186829 w 2467816"/>
              <a:gd name="connsiteY5" fmla="*/ 1221583 h 1400175"/>
              <a:gd name="connsiteX6" fmla="*/ 110615 w 2467816"/>
              <a:gd name="connsiteY6" fmla="*/ 1283095 h 1400175"/>
              <a:gd name="connsiteX7" fmla="*/ -1 w 2467816"/>
              <a:gd name="connsiteY7" fmla="*/ 489889 h 1400175"/>
              <a:gd name="connsiteX0" fmla="*/ 1 w 2467818"/>
              <a:gd name="connsiteY0" fmla="*/ 489889 h 1400175"/>
              <a:gd name="connsiteX1" fmla="*/ 2186831 w 2467818"/>
              <a:gd name="connsiteY1" fmla="*/ 178592 h 1400175"/>
              <a:gd name="connsiteX2" fmla="*/ 2186831 w 2467818"/>
              <a:gd name="connsiteY2" fmla="*/ 0 h 1400175"/>
              <a:gd name="connsiteX3" fmla="*/ 2467818 w 2467818"/>
              <a:gd name="connsiteY3" fmla="*/ 700088 h 1400175"/>
              <a:gd name="connsiteX4" fmla="*/ 2186831 w 2467818"/>
              <a:gd name="connsiteY4" fmla="*/ 1400175 h 1400175"/>
              <a:gd name="connsiteX5" fmla="*/ 2186831 w 2467818"/>
              <a:gd name="connsiteY5" fmla="*/ 1221583 h 1400175"/>
              <a:gd name="connsiteX6" fmla="*/ 110617 w 2467818"/>
              <a:gd name="connsiteY6" fmla="*/ 1283095 h 1400175"/>
              <a:gd name="connsiteX7" fmla="*/ 1 w 2467818"/>
              <a:gd name="connsiteY7" fmla="*/ 489889 h 1400175"/>
              <a:gd name="connsiteX0" fmla="*/ -1 w 2662375"/>
              <a:gd name="connsiteY0" fmla="*/ 880131 h 1400175"/>
              <a:gd name="connsiteX1" fmla="*/ 2381388 w 2662375"/>
              <a:gd name="connsiteY1" fmla="*/ 178592 h 1400175"/>
              <a:gd name="connsiteX2" fmla="*/ 2381388 w 2662375"/>
              <a:gd name="connsiteY2" fmla="*/ 0 h 1400175"/>
              <a:gd name="connsiteX3" fmla="*/ 2662375 w 2662375"/>
              <a:gd name="connsiteY3" fmla="*/ 700088 h 1400175"/>
              <a:gd name="connsiteX4" fmla="*/ 2381388 w 2662375"/>
              <a:gd name="connsiteY4" fmla="*/ 1400175 h 1400175"/>
              <a:gd name="connsiteX5" fmla="*/ 2381388 w 2662375"/>
              <a:gd name="connsiteY5" fmla="*/ 1221583 h 1400175"/>
              <a:gd name="connsiteX6" fmla="*/ 305174 w 2662375"/>
              <a:gd name="connsiteY6" fmla="*/ 1283095 h 1400175"/>
              <a:gd name="connsiteX7" fmla="*/ -1 w 2662375"/>
              <a:gd name="connsiteY7" fmla="*/ 880131 h 1400175"/>
              <a:gd name="connsiteX0" fmla="*/ 1 w 2662377"/>
              <a:gd name="connsiteY0" fmla="*/ 880131 h 1585321"/>
              <a:gd name="connsiteX1" fmla="*/ 2381390 w 2662377"/>
              <a:gd name="connsiteY1" fmla="*/ 178592 h 1585321"/>
              <a:gd name="connsiteX2" fmla="*/ 2381390 w 2662377"/>
              <a:gd name="connsiteY2" fmla="*/ 0 h 1585321"/>
              <a:gd name="connsiteX3" fmla="*/ 2662377 w 2662377"/>
              <a:gd name="connsiteY3" fmla="*/ 700088 h 1585321"/>
              <a:gd name="connsiteX4" fmla="*/ 2381390 w 2662377"/>
              <a:gd name="connsiteY4" fmla="*/ 1400175 h 1585321"/>
              <a:gd name="connsiteX5" fmla="*/ 2381390 w 2662377"/>
              <a:gd name="connsiteY5" fmla="*/ 1221583 h 1585321"/>
              <a:gd name="connsiteX6" fmla="*/ 534055 w 2662377"/>
              <a:gd name="connsiteY6" fmla="*/ 1585320 h 1585321"/>
              <a:gd name="connsiteX7" fmla="*/ 1 w 2662377"/>
              <a:gd name="connsiteY7" fmla="*/ 880131 h 1585321"/>
              <a:gd name="connsiteX0" fmla="*/ -1 w 2433498"/>
              <a:gd name="connsiteY0" fmla="*/ 1182356 h 1585319"/>
              <a:gd name="connsiteX1" fmla="*/ 2152511 w 2433498"/>
              <a:gd name="connsiteY1" fmla="*/ 178592 h 1585319"/>
              <a:gd name="connsiteX2" fmla="*/ 2152511 w 2433498"/>
              <a:gd name="connsiteY2" fmla="*/ 0 h 1585319"/>
              <a:gd name="connsiteX3" fmla="*/ 2433498 w 2433498"/>
              <a:gd name="connsiteY3" fmla="*/ 700088 h 1585319"/>
              <a:gd name="connsiteX4" fmla="*/ 2152511 w 2433498"/>
              <a:gd name="connsiteY4" fmla="*/ 1400175 h 1585319"/>
              <a:gd name="connsiteX5" fmla="*/ 2152511 w 2433498"/>
              <a:gd name="connsiteY5" fmla="*/ 1221583 h 1585319"/>
              <a:gd name="connsiteX6" fmla="*/ 305176 w 2433498"/>
              <a:gd name="connsiteY6" fmla="*/ 1585320 h 1585319"/>
              <a:gd name="connsiteX7" fmla="*/ -1 w 2433498"/>
              <a:gd name="connsiteY7" fmla="*/ 1182356 h 1585319"/>
              <a:gd name="connsiteX0" fmla="*/ 1 w 2433500"/>
              <a:gd name="connsiteY0" fmla="*/ 1182356 h 1585321"/>
              <a:gd name="connsiteX1" fmla="*/ 2152513 w 2433500"/>
              <a:gd name="connsiteY1" fmla="*/ 178592 h 1585321"/>
              <a:gd name="connsiteX2" fmla="*/ 2152513 w 2433500"/>
              <a:gd name="connsiteY2" fmla="*/ 0 h 1585321"/>
              <a:gd name="connsiteX3" fmla="*/ 2433500 w 2433500"/>
              <a:gd name="connsiteY3" fmla="*/ 700088 h 1585321"/>
              <a:gd name="connsiteX4" fmla="*/ 2152513 w 2433500"/>
              <a:gd name="connsiteY4" fmla="*/ 1400175 h 1585321"/>
              <a:gd name="connsiteX5" fmla="*/ 2152513 w 2433500"/>
              <a:gd name="connsiteY5" fmla="*/ 1221583 h 1585321"/>
              <a:gd name="connsiteX6" fmla="*/ 305178 w 2433500"/>
              <a:gd name="connsiteY6" fmla="*/ 1585320 h 1585321"/>
              <a:gd name="connsiteX7" fmla="*/ 1 w 2433500"/>
              <a:gd name="connsiteY7" fmla="*/ 1182356 h 1585321"/>
              <a:gd name="connsiteX0" fmla="*/ -1 w 2433498"/>
              <a:gd name="connsiteY0" fmla="*/ 1182356 h 1585319"/>
              <a:gd name="connsiteX1" fmla="*/ 2152511 w 2433498"/>
              <a:gd name="connsiteY1" fmla="*/ 178592 h 1585319"/>
              <a:gd name="connsiteX2" fmla="*/ 2152511 w 2433498"/>
              <a:gd name="connsiteY2" fmla="*/ 0 h 1585319"/>
              <a:gd name="connsiteX3" fmla="*/ 2433498 w 2433498"/>
              <a:gd name="connsiteY3" fmla="*/ 700088 h 1585319"/>
              <a:gd name="connsiteX4" fmla="*/ 2152511 w 2433498"/>
              <a:gd name="connsiteY4" fmla="*/ 1400175 h 1585319"/>
              <a:gd name="connsiteX5" fmla="*/ 2152511 w 2433498"/>
              <a:gd name="connsiteY5" fmla="*/ 1221583 h 1585319"/>
              <a:gd name="connsiteX6" fmla="*/ 305176 w 2433498"/>
              <a:gd name="connsiteY6" fmla="*/ 1585320 h 1585319"/>
              <a:gd name="connsiteX7" fmla="*/ -1 w 2433498"/>
              <a:gd name="connsiteY7" fmla="*/ 1182356 h 1585319"/>
              <a:gd name="connsiteX0" fmla="*/ 1 w 2433500"/>
              <a:gd name="connsiteY0" fmla="*/ 1182356 h 1585321"/>
              <a:gd name="connsiteX1" fmla="*/ 2152513 w 2433500"/>
              <a:gd name="connsiteY1" fmla="*/ 178592 h 1585321"/>
              <a:gd name="connsiteX2" fmla="*/ 2152513 w 2433500"/>
              <a:gd name="connsiteY2" fmla="*/ 0 h 1585321"/>
              <a:gd name="connsiteX3" fmla="*/ 2433500 w 2433500"/>
              <a:gd name="connsiteY3" fmla="*/ 700088 h 1585321"/>
              <a:gd name="connsiteX4" fmla="*/ 2152513 w 2433500"/>
              <a:gd name="connsiteY4" fmla="*/ 1400175 h 1585321"/>
              <a:gd name="connsiteX5" fmla="*/ 2072574 w 2433500"/>
              <a:gd name="connsiteY5" fmla="*/ 1197952 h 1585321"/>
              <a:gd name="connsiteX6" fmla="*/ 305178 w 2433500"/>
              <a:gd name="connsiteY6" fmla="*/ 1585320 h 1585321"/>
              <a:gd name="connsiteX7" fmla="*/ 1 w 2433500"/>
              <a:gd name="connsiteY7" fmla="*/ 1182356 h 1585321"/>
              <a:gd name="connsiteX0" fmla="*/ -1 w 2433498"/>
              <a:gd name="connsiteY0" fmla="*/ 1182356 h 1585319"/>
              <a:gd name="connsiteX1" fmla="*/ 2152511 w 2433498"/>
              <a:gd name="connsiteY1" fmla="*/ 178592 h 1585319"/>
              <a:gd name="connsiteX2" fmla="*/ 2152511 w 2433498"/>
              <a:gd name="connsiteY2" fmla="*/ 0 h 1585319"/>
              <a:gd name="connsiteX3" fmla="*/ 2433498 w 2433498"/>
              <a:gd name="connsiteY3" fmla="*/ 700088 h 1585319"/>
              <a:gd name="connsiteX4" fmla="*/ 2048123 w 2433498"/>
              <a:gd name="connsiteY4" fmla="*/ 1374989 h 1585319"/>
              <a:gd name="connsiteX5" fmla="*/ 2072572 w 2433498"/>
              <a:gd name="connsiteY5" fmla="*/ 1197952 h 1585319"/>
              <a:gd name="connsiteX6" fmla="*/ 305176 w 2433498"/>
              <a:gd name="connsiteY6" fmla="*/ 1585320 h 1585319"/>
              <a:gd name="connsiteX7" fmla="*/ -1 w 2433498"/>
              <a:gd name="connsiteY7" fmla="*/ 1182356 h 1585319"/>
              <a:gd name="connsiteX0" fmla="*/ 1 w 2576282"/>
              <a:gd name="connsiteY0" fmla="*/ 1182356 h 1585321"/>
              <a:gd name="connsiteX1" fmla="*/ 2152513 w 2576282"/>
              <a:gd name="connsiteY1" fmla="*/ 178592 h 1585321"/>
              <a:gd name="connsiteX2" fmla="*/ 2152513 w 2576282"/>
              <a:gd name="connsiteY2" fmla="*/ 0 h 1585321"/>
              <a:gd name="connsiteX3" fmla="*/ 2576282 w 2576282"/>
              <a:gd name="connsiteY3" fmla="*/ 816484 h 1585321"/>
              <a:gd name="connsiteX4" fmla="*/ 2048125 w 2576282"/>
              <a:gd name="connsiteY4" fmla="*/ 1374989 h 1585321"/>
              <a:gd name="connsiteX5" fmla="*/ 2072574 w 2576282"/>
              <a:gd name="connsiteY5" fmla="*/ 1197952 h 1585321"/>
              <a:gd name="connsiteX6" fmla="*/ 305178 w 2576282"/>
              <a:gd name="connsiteY6" fmla="*/ 1585320 h 1585321"/>
              <a:gd name="connsiteX7" fmla="*/ 1 w 2576282"/>
              <a:gd name="connsiteY7" fmla="*/ 1182356 h 1585321"/>
              <a:gd name="connsiteX0" fmla="*/ -1 w 2499984"/>
              <a:gd name="connsiteY0" fmla="*/ 1182356 h 1585319"/>
              <a:gd name="connsiteX1" fmla="*/ 2152511 w 2499984"/>
              <a:gd name="connsiteY1" fmla="*/ 178592 h 1585319"/>
              <a:gd name="connsiteX2" fmla="*/ 2152511 w 2499984"/>
              <a:gd name="connsiteY2" fmla="*/ 0 h 1585319"/>
              <a:gd name="connsiteX3" fmla="*/ 2499984 w 2499984"/>
              <a:gd name="connsiteY3" fmla="*/ 715744 h 1585319"/>
              <a:gd name="connsiteX4" fmla="*/ 2048123 w 2499984"/>
              <a:gd name="connsiteY4" fmla="*/ 1374989 h 1585319"/>
              <a:gd name="connsiteX5" fmla="*/ 2072572 w 2499984"/>
              <a:gd name="connsiteY5" fmla="*/ 1197952 h 1585319"/>
              <a:gd name="connsiteX6" fmla="*/ 305176 w 2499984"/>
              <a:gd name="connsiteY6" fmla="*/ 1585320 h 1585319"/>
              <a:gd name="connsiteX7" fmla="*/ -1 w 2499984"/>
              <a:gd name="connsiteY7" fmla="*/ 1182356 h 1585319"/>
              <a:gd name="connsiteX0" fmla="*/ 0 w 2499985"/>
              <a:gd name="connsiteY0" fmla="*/ 1182356 h 1585321"/>
              <a:gd name="connsiteX1" fmla="*/ 2152512 w 2499985"/>
              <a:gd name="connsiteY1" fmla="*/ 178592 h 1585321"/>
              <a:gd name="connsiteX2" fmla="*/ 2152512 w 2499985"/>
              <a:gd name="connsiteY2" fmla="*/ 0 h 1585321"/>
              <a:gd name="connsiteX3" fmla="*/ 2499985 w 2499985"/>
              <a:gd name="connsiteY3" fmla="*/ 715744 h 1585321"/>
              <a:gd name="connsiteX4" fmla="*/ 2048124 w 2499985"/>
              <a:gd name="connsiteY4" fmla="*/ 1374989 h 1585321"/>
              <a:gd name="connsiteX5" fmla="*/ 2072573 w 2499985"/>
              <a:gd name="connsiteY5" fmla="*/ 1197952 h 1585321"/>
              <a:gd name="connsiteX6" fmla="*/ 305177 w 2499985"/>
              <a:gd name="connsiteY6" fmla="*/ 1585320 h 1585321"/>
              <a:gd name="connsiteX7" fmla="*/ 0 w 2499985"/>
              <a:gd name="connsiteY7" fmla="*/ 1182356 h 1585321"/>
              <a:gd name="connsiteX0" fmla="*/ 0 w 2499985"/>
              <a:gd name="connsiteY0" fmla="*/ 1182356 h 1717938"/>
              <a:gd name="connsiteX1" fmla="*/ 2152512 w 2499985"/>
              <a:gd name="connsiteY1" fmla="*/ 178592 h 1717938"/>
              <a:gd name="connsiteX2" fmla="*/ 2152512 w 2499985"/>
              <a:gd name="connsiteY2" fmla="*/ 0 h 1717938"/>
              <a:gd name="connsiteX3" fmla="*/ 2499985 w 2499985"/>
              <a:gd name="connsiteY3" fmla="*/ 715744 h 1717938"/>
              <a:gd name="connsiteX4" fmla="*/ 2048124 w 2499985"/>
              <a:gd name="connsiteY4" fmla="*/ 1374989 h 1717938"/>
              <a:gd name="connsiteX5" fmla="*/ 2072573 w 2499985"/>
              <a:gd name="connsiteY5" fmla="*/ 1197952 h 1717938"/>
              <a:gd name="connsiteX6" fmla="*/ 93296 w 2499985"/>
              <a:gd name="connsiteY6" fmla="*/ 1717938 h 1717938"/>
              <a:gd name="connsiteX7" fmla="*/ 0 w 2499985"/>
              <a:gd name="connsiteY7" fmla="*/ 1182356 h 1717938"/>
              <a:gd name="connsiteX0" fmla="*/ 0 w 2499985"/>
              <a:gd name="connsiteY0" fmla="*/ 1182356 h 1716512"/>
              <a:gd name="connsiteX1" fmla="*/ 2152512 w 2499985"/>
              <a:gd name="connsiteY1" fmla="*/ 178592 h 1716512"/>
              <a:gd name="connsiteX2" fmla="*/ 2152512 w 2499985"/>
              <a:gd name="connsiteY2" fmla="*/ 0 h 1716512"/>
              <a:gd name="connsiteX3" fmla="*/ 2499985 w 2499985"/>
              <a:gd name="connsiteY3" fmla="*/ 715744 h 1716512"/>
              <a:gd name="connsiteX4" fmla="*/ 2048124 w 2499985"/>
              <a:gd name="connsiteY4" fmla="*/ 1374989 h 1716512"/>
              <a:gd name="connsiteX5" fmla="*/ 2072573 w 2499985"/>
              <a:gd name="connsiteY5" fmla="*/ 1197952 h 1716512"/>
              <a:gd name="connsiteX6" fmla="*/ 60209 w 2499985"/>
              <a:gd name="connsiteY6" fmla="*/ 1716512 h 1716512"/>
              <a:gd name="connsiteX7" fmla="*/ 0 w 2499985"/>
              <a:gd name="connsiteY7" fmla="*/ 1182356 h 1716512"/>
              <a:gd name="connsiteX0" fmla="*/ 0 w 2499985"/>
              <a:gd name="connsiteY0" fmla="*/ 1182356 h 1714232"/>
              <a:gd name="connsiteX1" fmla="*/ 2152512 w 2499985"/>
              <a:gd name="connsiteY1" fmla="*/ 178592 h 1714232"/>
              <a:gd name="connsiteX2" fmla="*/ 2152512 w 2499985"/>
              <a:gd name="connsiteY2" fmla="*/ 0 h 1714232"/>
              <a:gd name="connsiteX3" fmla="*/ 2499985 w 2499985"/>
              <a:gd name="connsiteY3" fmla="*/ 715744 h 1714232"/>
              <a:gd name="connsiteX4" fmla="*/ 2048124 w 2499985"/>
              <a:gd name="connsiteY4" fmla="*/ 1374989 h 1714232"/>
              <a:gd name="connsiteX5" fmla="*/ 2072573 w 2499985"/>
              <a:gd name="connsiteY5" fmla="*/ 1197952 h 1714232"/>
              <a:gd name="connsiteX6" fmla="*/ 72228 w 2499985"/>
              <a:gd name="connsiteY6" fmla="*/ 1714232 h 1714232"/>
              <a:gd name="connsiteX7" fmla="*/ 0 w 2499985"/>
              <a:gd name="connsiteY7" fmla="*/ 1182356 h 1714232"/>
              <a:gd name="connsiteX0" fmla="*/ 0 w 2499985"/>
              <a:gd name="connsiteY0" fmla="*/ 1182356 h 1714232"/>
              <a:gd name="connsiteX1" fmla="*/ 2152512 w 2499985"/>
              <a:gd name="connsiteY1" fmla="*/ 178592 h 1714232"/>
              <a:gd name="connsiteX2" fmla="*/ 2152512 w 2499985"/>
              <a:gd name="connsiteY2" fmla="*/ 0 h 1714232"/>
              <a:gd name="connsiteX3" fmla="*/ 2499985 w 2499985"/>
              <a:gd name="connsiteY3" fmla="*/ 715744 h 1714232"/>
              <a:gd name="connsiteX4" fmla="*/ 2048124 w 2499985"/>
              <a:gd name="connsiteY4" fmla="*/ 1374989 h 1714232"/>
              <a:gd name="connsiteX5" fmla="*/ 2072573 w 2499985"/>
              <a:gd name="connsiteY5" fmla="*/ 1197952 h 1714232"/>
              <a:gd name="connsiteX6" fmla="*/ 72228 w 2499985"/>
              <a:gd name="connsiteY6" fmla="*/ 1714232 h 1714232"/>
              <a:gd name="connsiteX7" fmla="*/ 0 w 2499985"/>
              <a:gd name="connsiteY7" fmla="*/ 1182356 h 1714232"/>
              <a:gd name="connsiteX0" fmla="*/ 57503 w 2557488"/>
              <a:gd name="connsiteY0" fmla="*/ 1182356 h 1837436"/>
              <a:gd name="connsiteX1" fmla="*/ 2210015 w 2557488"/>
              <a:gd name="connsiteY1" fmla="*/ 178592 h 1837436"/>
              <a:gd name="connsiteX2" fmla="*/ 2210015 w 2557488"/>
              <a:gd name="connsiteY2" fmla="*/ 0 h 1837436"/>
              <a:gd name="connsiteX3" fmla="*/ 2557488 w 2557488"/>
              <a:gd name="connsiteY3" fmla="*/ 715744 h 1837436"/>
              <a:gd name="connsiteX4" fmla="*/ 2105627 w 2557488"/>
              <a:gd name="connsiteY4" fmla="*/ 1374989 h 1837436"/>
              <a:gd name="connsiteX5" fmla="*/ 2130076 w 2557488"/>
              <a:gd name="connsiteY5" fmla="*/ 1197952 h 1837436"/>
              <a:gd name="connsiteX6" fmla="*/ 0 w 2557488"/>
              <a:gd name="connsiteY6" fmla="*/ 1837436 h 1837436"/>
              <a:gd name="connsiteX7" fmla="*/ 57503 w 2557488"/>
              <a:gd name="connsiteY7" fmla="*/ 1182356 h 1837436"/>
              <a:gd name="connsiteX0" fmla="*/ 162877 w 2557488"/>
              <a:gd name="connsiteY0" fmla="*/ 273202 h 1990505"/>
              <a:gd name="connsiteX1" fmla="*/ 2210015 w 2557488"/>
              <a:gd name="connsiteY1" fmla="*/ 331661 h 1990505"/>
              <a:gd name="connsiteX2" fmla="*/ 2210015 w 2557488"/>
              <a:gd name="connsiteY2" fmla="*/ 153069 h 1990505"/>
              <a:gd name="connsiteX3" fmla="*/ 2557488 w 2557488"/>
              <a:gd name="connsiteY3" fmla="*/ 868813 h 1990505"/>
              <a:gd name="connsiteX4" fmla="*/ 2105627 w 2557488"/>
              <a:gd name="connsiteY4" fmla="*/ 1528058 h 1990505"/>
              <a:gd name="connsiteX5" fmla="*/ 2130076 w 2557488"/>
              <a:gd name="connsiteY5" fmla="*/ 1351021 h 1990505"/>
              <a:gd name="connsiteX6" fmla="*/ 0 w 2557488"/>
              <a:gd name="connsiteY6" fmla="*/ 1990505 h 1990505"/>
              <a:gd name="connsiteX7" fmla="*/ 162877 w 2557488"/>
              <a:gd name="connsiteY7" fmla="*/ 273202 h 1990505"/>
              <a:gd name="connsiteX0" fmla="*/ 56984 w 2451595"/>
              <a:gd name="connsiteY0" fmla="*/ 273202 h 1528058"/>
              <a:gd name="connsiteX1" fmla="*/ 2104122 w 2451595"/>
              <a:gd name="connsiteY1" fmla="*/ 331661 h 1528058"/>
              <a:gd name="connsiteX2" fmla="*/ 2104122 w 2451595"/>
              <a:gd name="connsiteY2" fmla="*/ 153069 h 1528058"/>
              <a:gd name="connsiteX3" fmla="*/ 2451595 w 2451595"/>
              <a:gd name="connsiteY3" fmla="*/ 868813 h 1528058"/>
              <a:gd name="connsiteX4" fmla="*/ 1999734 w 2451595"/>
              <a:gd name="connsiteY4" fmla="*/ 1528058 h 1528058"/>
              <a:gd name="connsiteX5" fmla="*/ 2024183 w 2451595"/>
              <a:gd name="connsiteY5" fmla="*/ 1351021 h 1528058"/>
              <a:gd name="connsiteX6" fmla="*/ 0 w 2451595"/>
              <a:gd name="connsiteY6" fmla="*/ 921953 h 1528058"/>
              <a:gd name="connsiteX7" fmla="*/ 56984 w 2451595"/>
              <a:gd name="connsiteY7" fmla="*/ 273202 h 1528058"/>
              <a:gd name="connsiteX0" fmla="*/ 56984 w 2451595"/>
              <a:gd name="connsiteY0" fmla="*/ 273202 h 1528058"/>
              <a:gd name="connsiteX1" fmla="*/ 2104122 w 2451595"/>
              <a:gd name="connsiteY1" fmla="*/ 331661 h 1528058"/>
              <a:gd name="connsiteX2" fmla="*/ 2104122 w 2451595"/>
              <a:gd name="connsiteY2" fmla="*/ 153069 h 1528058"/>
              <a:gd name="connsiteX3" fmla="*/ 2451595 w 2451595"/>
              <a:gd name="connsiteY3" fmla="*/ 868813 h 1528058"/>
              <a:gd name="connsiteX4" fmla="*/ 1999734 w 2451595"/>
              <a:gd name="connsiteY4" fmla="*/ 1528058 h 1528058"/>
              <a:gd name="connsiteX5" fmla="*/ 2024183 w 2451595"/>
              <a:gd name="connsiteY5" fmla="*/ 1351021 h 1528058"/>
              <a:gd name="connsiteX6" fmla="*/ 0 w 2451595"/>
              <a:gd name="connsiteY6" fmla="*/ 921953 h 1528058"/>
              <a:gd name="connsiteX7" fmla="*/ 56984 w 2451595"/>
              <a:gd name="connsiteY7" fmla="*/ 273202 h 1528058"/>
              <a:gd name="connsiteX0" fmla="*/ 56984 w 2451595"/>
              <a:gd name="connsiteY0" fmla="*/ 120133 h 1374989"/>
              <a:gd name="connsiteX1" fmla="*/ 2104122 w 2451595"/>
              <a:gd name="connsiteY1" fmla="*/ 178592 h 1374989"/>
              <a:gd name="connsiteX2" fmla="*/ 2104122 w 2451595"/>
              <a:gd name="connsiteY2" fmla="*/ 0 h 1374989"/>
              <a:gd name="connsiteX3" fmla="*/ 2451595 w 2451595"/>
              <a:gd name="connsiteY3" fmla="*/ 715744 h 1374989"/>
              <a:gd name="connsiteX4" fmla="*/ 1999734 w 2451595"/>
              <a:gd name="connsiteY4" fmla="*/ 1374989 h 1374989"/>
              <a:gd name="connsiteX5" fmla="*/ 2024183 w 2451595"/>
              <a:gd name="connsiteY5" fmla="*/ 1197952 h 1374989"/>
              <a:gd name="connsiteX6" fmla="*/ 0 w 2451595"/>
              <a:gd name="connsiteY6" fmla="*/ 768884 h 1374989"/>
              <a:gd name="connsiteX7" fmla="*/ 56984 w 2451595"/>
              <a:gd name="connsiteY7" fmla="*/ 120133 h 1374989"/>
              <a:gd name="connsiteX0" fmla="*/ 56984 w 2451595"/>
              <a:gd name="connsiteY0" fmla="*/ 120133 h 1374989"/>
              <a:gd name="connsiteX1" fmla="*/ 2104122 w 2451595"/>
              <a:gd name="connsiteY1" fmla="*/ 178592 h 1374989"/>
              <a:gd name="connsiteX2" fmla="*/ 2104122 w 2451595"/>
              <a:gd name="connsiteY2" fmla="*/ 0 h 1374989"/>
              <a:gd name="connsiteX3" fmla="*/ 2451595 w 2451595"/>
              <a:gd name="connsiteY3" fmla="*/ 715744 h 1374989"/>
              <a:gd name="connsiteX4" fmla="*/ 1999734 w 2451595"/>
              <a:gd name="connsiteY4" fmla="*/ 1374989 h 1374989"/>
              <a:gd name="connsiteX5" fmla="*/ 2024183 w 2451595"/>
              <a:gd name="connsiteY5" fmla="*/ 1197952 h 1374989"/>
              <a:gd name="connsiteX6" fmla="*/ 0 w 2451595"/>
              <a:gd name="connsiteY6" fmla="*/ 768884 h 1374989"/>
              <a:gd name="connsiteX7" fmla="*/ 56984 w 2451595"/>
              <a:gd name="connsiteY7" fmla="*/ 120133 h 1374989"/>
              <a:gd name="connsiteX0" fmla="*/ 75596 w 2451595"/>
              <a:gd name="connsiteY0" fmla="*/ 118567 h 1374989"/>
              <a:gd name="connsiteX1" fmla="*/ 2104122 w 2451595"/>
              <a:gd name="connsiteY1" fmla="*/ 178592 h 1374989"/>
              <a:gd name="connsiteX2" fmla="*/ 2104122 w 2451595"/>
              <a:gd name="connsiteY2" fmla="*/ 0 h 1374989"/>
              <a:gd name="connsiteX3" fmla="*/ 2451595 w 2451595"/>
              <a:gd name="connsiteY3" fmla="*/ 715744 h 1374989"/>
              <a:gd name="connsiteX4" fmla="*/ 1999734 w 2451595"/>
              <a:gd name="connsiteY4" fmla="*/ 1374989 h 1374989"/>
              <a:gd name="connsiteX5" fmla="*/ 2024183 w 2451595"/>
              <a:gd name="connsiteY5" fmla="*/ 1197952 h 1374989"/>
              <a:gd name="connsiteX6" fmla="*/ 0 w 2451595"/>
              <a:gd name="connsiteY6" fmla="*/ 768884 h 1374989"/>
              <a:gd name="connsiteX7" fmla="*/ 75596 w 2451595"/>
              <a:gd name="connsiteY7" fmla="*/ 118567 h 1374989"/>
              <a:gd name="connsiteX0" fmla="*/ 48104 w 2424103"/>
              <a:gd name="connsiteY0" fmla="*/ 118567 h 1374989"/>
              <a:gd name="connsiteX1" fmla="*/ 2076630 w 2424103"/>
              <a:gd name="connsiteY1" fmla="*/ 178592 h 1374989"/>
              <a:gd name="connsiteX2" fmla="*/ 2076630 w 2424103"/>
              <a:gd name="connsiteY2" fmla="*/ 0 h 1374989"/>
              <a:gd name="connsiteX3" fmla="*/ 2424103 w 2424103"/>
              <a:gd name="connsiteY3" fmla="*/ 715744 h 1374989"/>
              <a:gd name="connsiteX4" fmla="*/ 1972242 w 2424103"/>
              <a:gd name="connsiteY4" fmla="*/ 1374989 h 1374989"/>
              <a:gd name="connsiteX5" fmla="*/ 1996691 w 2424103"/>
              <a:gd name="connsiteY5" fmla="*/ 1197952 h 1374989"/>
              <a:gd name="connsiteX6" fmla="*/ 0 w 2424103"/>
              <a:gd name="connsiteY6" fmla="*/ 775075 h 1374989"/>
              <a:gd name="connsiteX7" fmla="*/ 48104 w 2424103"/>
              <a:gd name="connsiteY7" fmla="*/ 118567 h 1374989"/>
              <a:gd name="connsiteX0" fmla="*/ 48104 w 2424103"/>
              <a:gd name="connsiteY0" fmla="*/ 118567 h 1374989"/>
              <a:gd name="connsiteX1" fmla="*/ 2076630 w 2424103"/>
              <a:gd name="connsiteY1" fmla="*/ 178592 h 1374989"/>
              <a:gd name="connsiteX2" fmla="*/ 2076630 w 2424103"/>
              <a:gd name="connsiteY2" fmla="*/ 0 h 1374989"/>
              <a:gd name="connsiteX3" fmla="*/ 2424103 w 2424103"/>
              <a:gd name="connsiteY3" fmla="*/ 715744 h 1374989"/>
              <a:gd name="connsiteX4" fmla="*/ 1972242 w 2424103"/>
              <a:gd name="connsiteY4" fmla="*/ 1374989 h 1374989"/>
              <a:gd name="connsiteX5" fmla="*/ 1996691 w 2424103"/>
              <a:gd name="connsiteY5" fmla="*/ 1197952 h 1374989"/>
              <a:gd name="connsiteX6" fmla="*/ 0 w 2424103"/>
              <a:gd name="connsiteY6" fmla="*/ 775075 h 1374989"/>
              <a:gd name="connsiteX7" fmla="*/ 48104 w 2424103"/>
              <a:gd name="connsiteY7" fmla="*/ 118567 h 1374989"/>
              <a:gd name="connsiteX0" fmla="*/ 48104 w 2424103"/>
              <a:gd name="connsiteY0" fmla="*/ 118567 h 1374989"/>
              <a:gd name="connsiteX1" fmla="*/ 2076630 w 2424103"/>
              <a:gd name="connsiteY1" fmla="*/ 178592 h 1374989"/>
              <a:gd name="connsiteX2" fmla="*/ 2076630 w 2424103"/>
              <a:gd name="connsiteY2" fmla="*/ 0 h 1374989"/>
              <a:gd name="connsiteX3" fmla="*/ 2424103 w 2424103"/>
              <a:gd name="connsiteY3" fmla="*/ 715744 h 1374989"/>
              <a:gd name="connsiteX4" fmla="*/ 1972242 w 2424103"/>
              <a:gd name="connsiteY4" fmla="*/ 1374989 h 1374989"/>
              <a:gd name="connsiteX5" fmla="*/ 1996691 w 2424103"/>
              <a:gd name="connsiteY5" fmla="*/ 1197952 h 1374989"/>
              <a:gd name="connsiteX6" fmla="*/ 0 w 2424103"/>
              <a:gd name="connsiteY6" fmla="*/ 775075 h 1374989"/>
              <a:gd name="connsiteX7" fmla="*/ 48104 w 2424103"/>
              <a:gd name="connsiteY7" fmla="*/ 118567 h 1374989"/>
              <a:gd name="connsiteX0" fmla="*/ 48104 w 2424103"/>
              <a:gd name="connsiteY0" fmla="*/ 118567 h 1374989"/>
              <a:gd name="connsiteX1" fmla="*/ 2076630 w 2424103"/>
              <a:gd name="connsiteY1" fmla="*/ 178592 h 1374989"/>
              <a:gd name="connsiteX2" fmla="*/ 2076630 w 2424103"/>
              <a:gd name="connsiteY2" fmla="*/ 0 h 1374989"/>
              <a:gd name="connsiteX3" fmla="*/ 2424103 w 2424103"/>
              <a:gd name="connsiteY3" fmla="*/ 715744 h 1374989"/>
              <a:gd name="connsiteX4" fmla="*/ 1972242 w 2424103"/>
              <a:gd name="connsiteY4" fmla="*/ 1374989 h 1374989"/>
              <a:gd name="connsiteX5" fmla="*/ 1996691 w 2424103"/>
              <a:gd name="connsiteY5" fmla="*/ 1197952 h 1374989"/>
              <a:gd name="connsiteX6" fmla="*/ 0 w 2424103"/>
              <a:gd name="connsiteY6" fmla="*/ 775075 h 1374989"/>
              <a:gd name="connsiteX7" fmla="*/ 48104 w 2424103"/>
              <a:gd name="connsiteY7" fmla="*/ 118567 h 1374989"/>
              <a:gd name="connsiteX0" fmla="*/ 48104 w 2424103"/>
              <a:gd name="connsiteY0" fmla="*/ 118567 h 1374989"/>
              <a:gd name="connsiteX1" fmla="*/ 2076630 w 2424103"/>
              <a:gd name="connsiteY1" fmla="*/ 178592 h 1374989"/>
              <a:gd name="connsiteX2" fmla="*/ 2076630 w 2424103"/>
              <a:gd name="connsiteY2" fmla="*/ 0 h 1374989"/>
              <a:gd name="connsiteX3" fmla="*/ 2424103 w 2424103"/>
              <a:gd name="connsiteY3" fmla="*/ 715744 h 1374989"/>
              <a:gd name="connsiteX4" fmla="*/ 1972242 w 2424103"/>
              <a:gd name="connsiteY4" fmla="*/ 1374989 h 1374989"/>
              <a:gd name="connsiteX5" fmla="*/ 1996691 w 2424103"/>
              <a:gd name="connsiteY5" fmla="*/ 1197952 h 1374989"/>
              <a:gd name="connsiteX6" fmla="*/ 0 w 2424103"/>
              <a:gd name="connsiteY6" fmla="*/ 775075 h 1374989"/>
              <a:gd name="connsiteX7" fmla="*/ 48104 w 2424103"/>
              <a:gd name="connsiteY7" fmla="*/ 118567 h 137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24103" h="1374989">
                <a:moveTo>
                  <a:pt x="48104" y="118567"/>
                </a:moveTo>
                <a:lnTo>
                  <a:pt x="2076630" y="178592"/>
                </a:lnTo>
                <a:lnTo>
                  <a:pt x="2076630" y="0"/>
                </a:lnTo>
                <a:lnTo>
                  <a:pt x="2424103" y="715744"/>
                </a:lnTo>
                <a:lnTo>
                  <a:pt x="1972242" y="1374989"/>
                </a:lnTo>
                <a:lnTo>
                  <a:pt x="1996691" y="1197952"/>
                </a:lnTo>
                <a:lnTo>
                  <a:pt x="0" y="775075"/>
                </a:lnTo>
                <a:lnTo>
                  <a:pt x="48104" y="118567"/>
                </a:lnTo>
                <a:close/>
              </a:path>
            </a:pathLst>
          </a:custGeom>
          <a:gradFill flip="none" rotWithShape="1">
            <a:gsLst>
              <a:gs pos="18000">
                <a:schemeClr val="accent1"/>
              </a:gs>
              <a:gs pos="50000">
                <a:schemeClr val="accent2">
                  <a:lumMod val="75000"/>
                </a:schemeClr>
              </a:gs>
              <a:gs pos="86000">
                <a:schemeClr val="accent2"/>
              </a:gs>
            </a:gsLst>
            <a:lin ang="0" scaled="1"/>
            <a:tileRect/>
          </a:gradFill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 kern="0" noProof="0" dirty="0">
              <a:solidFill>
                <a:prstClr val="white"/>
              </a:solidFill>
              <a:latin typeface="Arial"/>
            </a:endParaRPr>
          </a:p>
        </p:txBody>
      </p:sp>
      <p:sp>
        <p:nvSpPr>
          <p:cNvPr id="31" name="Textfeld 22">
            <a:extLst>
              <a:ext uri="{FF2B5EF4-FFF2-40B4-BE49-F238E27FC236}">
                <a16:creationId xmlns:a16="http://schemas.microsoft.com/office/drawing/2014/main" id="{9CD66DCA-BF76-942C-07D9-88D920B9BAA1}"/>
              </a:ext>
            </a:extLst>
          </p:cNvPr>
          <p:cNvSpPr txBox="1"/>
          <p:nvPr/>
        </p:nvSpPr>
        <p:spPr>
          <a:xfrm rot="16200000">
            <a:off x="273525" y="3160475"/>
            <a:ext cx="1563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Prozess</a:t>
            </a:r>
          </a:p>
        </p:txBody>
      </p:sp>
      <p:sp>
        <p:nvSpPr>
          <p:cNvPr id="34" name="Textfeld 17">
            <a:extLst>
              <a:ext uri="{FF2B5EF4-FFF2-40B4-BE49-F238E27FC236}">
                <a16:creationId xmlns:a16="http://schemas.microsoft.com/office/drawing/2014/main" id="{8A2E7B66-9399-0089-8AE5-C7B86AE84B1F}"/>
              </a:ext>
            </a:extLst>
          </p:cNvPr>
          <p:cNvSpPr txBox="1"/>
          <p:nvPr/>
        </p:nvSpPr>
        <p:spPr>
          <a:xfrm>
            <a:off x="1996433" y="4500952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Synthese der Erkenntnisse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5" name="Pfeil nach unten 20">
            <a:extLst>
              <a:ext uri="{FF2B5EF4-FFF2-40B4-BE49-F238E27FC236}">
                <a16:creationId xmlns:a16="http://schemas.microsoft.com/office/drawing/2014/main" id="{64A58CE7-E1B5-FCA5-ABA4-E47F2DAD941C}"/>
              </a:ext>
            </a:extLst>
          </p:cNvPr>
          <p:cNvSpPr/>
          <p:nvPr/>
        </p:nvSpPr>
        <p:spPr>
          <a:xfrm>
            <a:off x="4955598" y="4006567"/>
            <a:ext cx="618878" cy="381000"/>
          </a:xfrm>
          <a:prstGeom prst="downArrow">
            <a:avLst>
              <a:gd name="adj1" fmla="val 73311"/>
              <a:gd name="adj2" fmla="val 3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feld 17">
            <a:extLst>
              <a:ext uri="{FF2B5EF4-FFF2-40B4-BE49-F238E27FC236}">
                <a16:creationId xmlns:a16="http://schemas.microsoft.com/office/drawing/2014/main" id="{6F84BAB4-7801-37F3-8CF5-72758DD4C78A}"/>
              </a:ext>
            </a:extLst>
          </p:cNvPr>
          <p:cNvSpPr txBox="1"/>
          <p:nvPr/>
        </p:nvSpPr>
        <p:spPr>
          <a:xfrm>
            <a:off x="2015289" y="5467665"/>
            <a:ext cx="6361313" cy="36933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chemeClr val="accent1"/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noProof="0" dirty="0"/>
              <a:t>Beantwortung der Forschungsfrage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9" name="Pfeil nach unten 20">
            <a:extLst>
              <a:ext uri="{FF2B5EF4-FFF2-40B4-BE49-F238E27FC236}">
                <a16:creationId xmlns:a16="http://schemas.microsoft.com/office/drawing/2014/main" id="{234D790C-6DA2-6B87-CBFF-6053A1069F4E}"/>
              </a:ext>
            </a:extLst>
          </p:cNvPr>
          <p:cNvSpPr/>
          <p:nvPr/>
        </p:nvSpPr>
        <p:spPr>
          <a:xfrm>
            <a:off x="4955598" y="4988997"/>
            <a:ext cx="618878" cy="381000"/>
          </a:xfrm>
          <a:prstGeom prst="downArrow">
            <a:avLst>
              <a:gd name="adj1" fmla="val 73311"/>
              <a:gd name="adj2" fmla="val 3000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F09032BA-A35E-DD6B-A3A7-19F60B7E8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4D210C09-08F8-E778-4A34-D95BD46E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28FFAB-48A6-4AB6-711E-C8A6B24B13E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7F5FEC57-B8DC-4168-BF69-CDFD6EF86C32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692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EDA7565-FBEC-32D2-2046-6DB37CAEE2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538" y="6119587"/>
            <a:ext cx="8350250" cy="296862"/>
          </a:xfrm>
        </p:spPr>
        <p:txBody>
          <a:bodyPr/>
          <a:lstStyle/>
          <a:p>
            <a:r>
              <a:rPr lang="de-DE" noProof="0" dirty="0"/>
              <a:t>Quellen:</a:t>
            </a:r>
            <a:br>
              <a:rPr lang="de-DE" noProof="0" dirty="0"/>
            </a:br>
            <a:r>
              <a:rPr lang="de-DE" noProof="0" dirty="0"/>
              <a:t>Vgl. Goodfellow et al. 2016, S. 4–5, 104–105; Vgl. K. C. Laudon &amp; J. P. Laudon 2018, S. 254–255, 259.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EBC585-E3B8-9C1D-23B3-3FD7CC26B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756" y="292660"/>
            <a:ext cx="8335120" cy="360064"/>
          </a:xfrm>
        </p:spPr>
        <p:txBody>
          <a:bodyPr anchor="t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lang="de-DE" sz="1900" noProof="0" dirty="0"/>
              <a:t>3</a:t>
            </a:r>
            <a:r>
              <a:rPr lang="de-DE" sz="1900" b="1" noProof="0" dirty="0"/>
              <a:t>. </a:t>
            </a:r>
            <a:r>
              <a:rPr lang="de-DE" noProof="0" dirty="0"/>
              <a:t>Funktionsweise eines KI-gestützten Monitoring-Systems</a:t>
            </a:r>
            <a:endParaRPr lang="de-DE" b="0" noProof="0" dirty="0">
              <a:solidFill>
                <a:schemeClr val="tx2">
                  <a:lumMod val="50000"/>
                </a:schemeClr>
              </a:solidFill>
              <a:ea typeface="Times New Roman"/>
              <a:cs typeface="Times New Roman"/>
            </a:endParaRPr>
          </a:p>
          <a:p>
            <a:pPr>
              <a:lnSpc>
                <a:spcPct val="90000"/>
              </a:lnSpc>
            </a:pPr>
            <a:endParaRPr lang="de-DE" sz="1900" b="1" noProof="0" dirty="0"/>
          </a:p>
          <a:p>
            <a:pPr>
              <a:lnSpc>
                <a:spcPct val="90000"/>
              </a:lnSpc>
            </a:pPr>
            <a:endParaRPr lang="de-DE" sz="1900" noProof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3E4B5B-1326-D7DB-B516-E89BF0F5CB21}"/>
              </a:ext>
            </a:extLst>
          </p:cNvPr>
          <p:cNvSpPr/>
          <p:nvPr/>
        </p:nvSpPr>
        <p:spPr>
          <a:xfrm>
            <a:off x="914987" y="1508333"/>
            <a:ext cx="2919662" cy="100491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>
                <a:solidFill>
                  <a:schemeClr val="tx1"/>
                </a:solidFill>
              </a:rPr>
              <a:t>Datenerfassung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0C7E567-028D-4BED-2516-FB6652837052}"/>
              </a:ext>
            </a:extLst>
          </p:cNvPr>
          <p:cNvSpPr/>
          <p:nvPr/>
        </p:nvSpPr>
        <p:spPr>
          <a:xfrm>
            <a:off x="5006725" y="1508333"/>
            <a:ext cx="2919662" cy="102929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>
                <a:solidFill>
                  <a:schemeClr val="tx1"/>
                </a:solidFill>
              </a:rPr>
              <a:t>Datenaufbereitung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82C0C6-C14B-9F82-6B55-29BED111D73A}"/>
              </a:ext>
            </a:extLst>
          </p:cNvPr>
          <p:cNvSpPr/>
          <p:nvPr/>
        </p:nvSpPr>
        <p:spPr>
          <a:xfrm>
            <a:off x="5022770" y="2738091"/>
            <a:ext cx="2919662" cy="103454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 err="1">
                <a:solidFill>
                  <a:schemeClr val="tx1"/>
                </a:solidFill>
              </a:rPr>
              <a:t>Machine</a:t>
            </a:r>
            <a:r>
              <a:rPr lang="de-DE" sz="1800" noProof="0" dirty="0">
                <a:solidFill>
                  <a:schemeClr val="tx1"/>
                </a:solidFill>
              </a:rPr>
              <a:t> Learning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0BCF92E-A3ED-EA70-4FA1-AA84FA3F15AD}"/>
              </a:ext>
            </a:extLst>
          </p:cNvPr>
          <p:cNvSpPr/>
          <p:nvPr/>
        </p:nvSpPr>
        <p:spPr>
          <a:xfrm>
            <a:off x="911978" y="2738091"/>
            <a:ext cx="2919662" cy="103360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>
                <a:solidFill>
                  <a:schemeClr val="tx1"/>
                </a:solidFill>
              </a:rPr>
              <a:t>Analyse &amp; Klassifikation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E3A1AC-4B14-7E90-814D-E2301D669D01}"/>
              </a:ext>
            </a:extLst>
          </p:cNvPr>
          <p:cNvSpPr/>
          <p:nvPr/>
        </p:nvSpPr>
        <p:spPr>
          <a:xfrm>
            <a:off x="5006724" y="4005693"/>
            <a:ext cx="2919663" cy="1029299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>
                <a:solidFill>
                  <a:schemeClr val="tx1"/>
                </a:solidFill>
              </a:rPr>
              <a:t>Verhaltensbeeinflussung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68EA2A7-6EDE-ADD2-1E58-B1300D2EEF41}"/>
              </a:ext>
            </a:extLst>
          </p:cNvPr>
          <p:cNvSpPr/>
          <p:nvPr/>
        </p:nvSpPr>
        <p:spPr>
          <a:xfrm>
            <a:off x="893930" y="4019824"/>
            <a:ext cx="2919662" cy="1064163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noProof="0" dirty="0">
                <a:solidFill>
                  <a:schemeClr val="tx1"/>
                </a:solidFill>
              </a:rPr>
              <a:t>Vorhersage / Empfehlung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274E7398-7215-849E-C035-BF479A6C9A08}"/>
              </a:ext>
            </a:extLst>
          </p:cNvPr>
          <p:cNvSpPr/>
          <p:nvPr/>
        </p:nvSpPr>
        <p:spPr>
          <a:xfrm>
            <a:off x="3911851" y="2003658"/>
            <a:ext cx="956512" cy="165568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dirty="0">
              <a:solidFill>
                <a:schemeClr val="tx1"/>
              </a:solidFill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70DBBA72-20AC-2A4F-A454-FCC802B90A7A}"/>
              </a:ext>
            </a:extLst>
          </p:cNvPr>
          <p:cNvSpPr/>
          <p:nvPr/>
        </p:nvSpPr>
        <p:spPr>
          <a:xfrm rot="10800000">
            <a:off x="3911851" y="3214045"/>
            <a:ext cx="956512" cy="16556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dirty="0">
              <a:solidFill>
                <a:schemeClr val="tx1"/>
              </a:solidFill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878CFE4A-24E7-6C60-3728-86FFBB1721FE}"/>
              </a:ext>
            </a:extLst>
          </p:cNvPr>
          <p:cNvSpPr/>
          <p:nvPr/>
        </p:nvSpPr>
        <p:spPr>
          <a:xfrm>
            <a:off x="3942932" y="4410614"/>
            <a:ext cx="928439" cy="165566"/>
          </a:xfrm>
          <a:prstGeom prst="rightArrow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dirty="0">
              <a:solidFill>
                <a:schemeClr val="tx1"/>
              </a:solidFill>
            </a:endParaRPr>
          </a:p>
        </p:txBody>
      </p:sp>
      <p:sp>
        <p:nvSpPr>
          <p:cNvPr id="48" name="Arrow: Curved Left 47">
            <a:extLst>
              <a:ext uri="{FF2B5EF4-FFF2-40B4-BE49-F238E27FC236}">
                <a16:creationId xmlns:a16="http://schemas.microsoft.com/office/drawing/2014/main" id="{C297C573-1A67-693A-A058-60D06C3DEA34}"/>
              </a:ext>
            </a:extLst>
          </p:cNvPr>
          <p:cNvSpPr/>
          <p:nvPr/>
        </p:nvSpPr>
        <p:spPr>
          <a:xfrm>
            <a:off x="8080793" y="1989949"/>
            <a:ext cx="378995" cy="1334043"/>
          </a:xfrm>
          <a:prstGeom prst="curvedLeftArrow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dirty="0">
              <a:solidFill>
                <a:schemeClr val="tx1"/>
              </a:solidFill>
            </a:endParaRPr>
          </a:p>
        </p:txBody>
      </p:sp>
      <p:sp>
        <p:nvSpPr>
          <p:cNvPr id="49" name="Arrow: Curved Right 48">
            <a:extLst>
              <a:ext uri="{FF2B5EF4-FFF2-40B4-BE49-F238E27FC236}">
                <a16:creationId xmlns:a16="http://schemas.microsoft.com/office/drawing/2014/main" id="{6FC6DCAE-C8AE-27C6-B7FC-138E28E646BF}"/>
              </a:ext>
            </a:extLst>
          </p:cNvPr>
          <p:cNvSpPr/>
          <p:nvPr/>
        </p:nvSpPr>
        <p:spPr>
          <a:xfrm>
            <a:off x="410660" y="3259714"/>
            <a:ext cx="421107" cy="1569001"/>
          </a:xfrm>
          <a:prstGeom prst="curvedRightArrow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 noProof="0" dirty="0">
              <a:solidFill>
                <a:schemeClr val="tx1"/>
              </a:solidFill>
            </a:endParaRP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BFBABC1E-5ABF-E7EF-EC3D-481C87E72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BCDCECDC-F722-2474-0B46-7FF44A30A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54" name="Date Placeholder 53">
            <a:extLst>
              <a:ext uri="{FF2B5EF4-FFF2-40B4-BE49-F238E27FC236}">
                <a16:creationId xmlns:a16="http://schemas.microsoft.com/office/drawing/2014/main" id="{25B3D297-2D11-A23B-70EF-10BD368050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FC3F0CE9-48CB-45BD-A04A-A79355151635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432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95525-F8B6-88C7-3C0A-C1E73C868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60E5DB-7B99-A1E2-4062-76DBB27BE9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noProof="0" dirty="0"/>
              <a:t>4. </a:t>
            </a:r>
            <a:r>
              <a:rPr lang="de-DE" noProof="0" dirty="0"/>
              <a:t>Zentrale Ergebnisse</a:t>
            </a:r>
            <a:endParaRPr lang="de-DE" b="1" noProof="0" dirty="0"/>
          </a:p>
          <a:p>
            <a:endParaRPr lang="de-DE" noProof="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C405C3EC-1D97-63FF-0193-ED7FAC72439C}"/>
              </a:ext>
            </a:extLst>
          </p:cNvPr>
          <p:cNvGrpSpPr>
            <a:grpSpLocks/>
          </p:cNvGrpSpPr>
          <p:nvPr/>
        </p:nvGrpSpPr>
        <p:grpSpPr bwMode="auto">
          <a:xfrm>
            <a:off x="105622" y="1338435"/>
            <a:ext cx="2168685" cy="3371908"/>
            <a:chOff x="144" y="1064"/>
            <a:chExt cx="1395" cy="2045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6A7E8FE9-6599-A0BF-9EA3-C8EED118A2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9" y="639"/>
              <a:ext cx="545" cy="1395"/>
            </a:xfrm>
            <a:prstGeom prst="homePlate">
              <a:avLst>
                <a:gd name="adj" fmla="val 28411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vert270" lIns="0" tIns="0" rIns="0" bIns="0" anchor="ctr">
              <a:noAutofit/>
            </a:bodyPr>
            <a:lstStyle/>
            <a:p>
              <a:pPr algn="ctr"/>
              <a:r>
                <a:rPr lang="de-DE" sz="1600" b="1" noProof="0" dirty="0">
                  <a:solidFill>
                    <a:schemeClr val="bg1"/>
                  </a:solidFill>
                </a:rPr>
                <a:t>Datenbasierte Analyse</a:t>
              </a: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39E0827-48FD-DBA4-80E0-E03E258D3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" y="1564"/>
              <a:ext cx="1395" cy="1545"/>
            </a:xfrm>
            <a:custGeom>
              <a:avLst/>
              <a:gdLst>
                <a:gd name="T0" fmla="*/ 196 w 2686"/>
                <a:gd name="T1" fmla="*/ 0 h 2075"/>
                <a:gd name="T2" fmla="*/ 196 w 2686"/>
                <a:gd name="T3" fmla="*/ 2075 h 2075"/>
                <a:gd name="T4" fmla="*/ 0 w 2686"/>
                <a:gd name="T5" fmla="*/ 2075 h 2075"/>
                <a:gd name="T6" fmla="*/ 0 w 2686"/>
                <a:gd name="T7" fmla="*/ 0 h 2075"/>
                <a:gd name="T8" fmla="*/ 97 w 2686"/>
                <a:gd name="T9" fmla="*/ 193 h 2075"/>
                <a:gd name="T10" fmla="*/ 196 w 2686"/>
                <a:gd name="T11" fmla="*/ 0 h 20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86"/>
                <a:gd name="T19" fmla="*/ 0 h 2075"/>
                <a:gd name="T20" fmla="*/ 2686 w 2686"/>
                <a:gd name="T21" fmla="*/ 2075 h 20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86" h="2075">
                  <a:moveTo>
                    <a:pt x="2686" y="0"/>
                  </a:moveTo>
                  <a:lnTo>
                    <a:pt x="2686" y="2075"/>
                  </a:lnTo>
                  <a:lnTo>
                    <a:pt x="0" y="2075"/>
                  </a:lnTo>
                  <a:lnTo>
                    <a:pt x="0" y="0"/>
                  </a:lnTo>
                  <a:lnTo>
                    <a:pt x="1336" y="19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lIns="36000" tIns="432000" rIns="108000">
              <a:noAutofit/>
            </a:bodyPr>
            <a:lstStyle/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Erfassung digitaler Daten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Profilbildung &amp; Merkmalsextration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Erkennung von Mustern</a:t>
              </a:r>
            </a:p>
            <a:p>
              <a:pPr algn="just"/>
              <a:endParaRPr lang="de-DE" noProof="0" dirty="0"/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267B994F-7F58-C177-1584-35AAA173EDF5}"/>
              </a:ext>
            </a:extLst>
          </p:cNvPr>
          <p:cNvGrpSpPr>
            <a:grpSpLocks/>
          </p:cNvGrpSpPr>
          <p:nvPr/>
        </p:nvGrpSpPr>
        <p:grpSpPr bwMode="auto">
          <a:xfrm>
            <a:off x="6869693" y="1338435"/>
            <a:ext cx="2168685" cy="3371908"/>
            <a:chOff x="144" y="1064"/>
            <a:chExt cx="1395" cy="2045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A61A7770-968C-8291-5FF3-672083C9DF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9" y="639"/>
              <a:ext cx="545" cy="1395"/>
            </a:xfrm>
            <a:prstGeom prst="homePlate">
              <a:avLst>
                <a:gd name="adj" fmla="val 28411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vert270" lIns="0" tIns="0" rIns="0" bIns="0" anchor="ctr">
              <a:noAutofit/>
            </a:bodyPr>
            <a:lstStyle/>
            <a:p>
              <a:pPr algn="ctr"/>
              <a:r>
                <a:rPr lang="de-DE" sz="1400" b="1" noProof="0" dirty="0">
                  <a:solidFill>
                    <a:schemeClr val="bg1"/>
                  </a:solidFill>
                </a:rPr>
                <a:t>Verhaltens- Beeinflussung</a:t>
              </a: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A56BD57-8F16-F6F8-E5A9-881074849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" y="1564"/>
              <a:ext cx="1395" cy="1545"/>
            </a:xfrm>
            <a:custGeom>
              <a:avLst/>
              <a:gdLst>
                <a:gd name="T0" fmla="*/ 196 w 2686"/>
                <a:gd name="T1" fmla="*/ 0 h 2075"/>
                <a:gd name="T2" fmla="*/ 196 w 2686"/>
                <a:gd name="T3" fmla="*/ 2075 h 2075"/>
                <a:gd name="T4" fmla="*/ 0 w 2686"/>
                <a:gd name="T5" fmla="*/ 2075 h 2075"/>
                <a:gd name="T6" fmla="*/ 0 w 2686"/>
                <a:gd name="T7" fmla="*/ 0 h 2075"/>
                <a:gd name="T8" fmla="*/ 97 w 2686"/>
                <a:gd name="T9" fmla="*/ 193 h 2075"/>
                <a:gd name="T10" fmla="*/ 196 w 2686"/>
                <a:gd name="T11" fmla="*/ 0 h 20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86"/>
                <a:gd name="T19" fmla="*/ 0 h 2075"/>
                <a:gd name="T20" fmla="*/ 2686 w 2686"/>
                <a:gd name="T21" fmla="*/ 2075 h 20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86" h="2075">
                  <a:moveTo>
                    <a:pt x="2686" y="0"/>
                  </a:moveTo>
                  <a:lnTo>
                    <a:pt x="2686" y="2075"/>
                  </a:lnTo>
                  <a:lnTo>
                    <a:pt x="0" y="2075"/>
                  </a:lnTo>
                  <a:lnTo>
                    <a:pt x="0" y="0"/>
                  </a:lnTo>
                  <a:lnTo>
                    <a:pt x="1336" y="19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lIns="36000" tIns="432000" rIns="108000">
              <a:noAutofit/>
            </a:bodyPr>
            <a:lstStyle/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Nicht jedes Monitoring beeinflusst Verhalten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Analyse → Entscheidung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Entscheidung → Intervention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Mögliche Verhaltenssteuerung</a:t>
              </a:r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1A0CDE39-408C-B4BA-6ECA-4B801FC19C5B}"/>
              </a:ext>
            </a:extLst>
          </p:cNvPr>
          <p:cNvGrpSpPr>
            <a:grpSpLocks/>
          </p:cNvGrpSpPr>
          <p:nvPr/>
        </p:nvGrpSpPr>
        <p:grpSpPr bwMode="auto">
          <a:xfrm>
            <a:off x="4626703" y="1338433"/>
            <a:ext cx="2168685" cy="3371908"/>
            <a:chOff x="144" y="1064"/>
            <a:chExt cx="1395" cy="2045"/>
          </a:xfrm>
        </p:grpSpPr>
        <p:sp>
          <p:nvSpPr>
            <p:cNvPr id="14" name="AutoShape 4">
              <a:extLst>
                <a:ext uri="{FF2B5EF4-FFF2-40B4-BE49-F238E27FC236}">
                  <a16:creationId xmlns:a16="http://schemas.microsoft.com/office/drawing/2014/main" id="{6CB77176-E0A9-4495-830A-8FA688319C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9" y="639"/>
              <a:ext cx="545" cy="1395"/>
            </a:xfrm>
            <a:prstGeom prst="homePlate">
              <a:avLst>
                <a:gd name="adj" fmla="val 27742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vert270" lIns="0" tIns="0" rIns="0" bIns="0" anchor="ctr">
              <a:noAutofit/>
            </a:bodyPr>
            <a:lstStyle/>
            <a:p>
              <a:pPr algn="ctr"/>
              <a:r>
                <a:rPr lang="de-DE" sz="1600" b="1" noProof="0" dirty="0">
                  <a:solidFill>
                    <a:schemeClr val="bg1"/>
                  </a:solidFill>
                </a:rPr>
                <a:t>Personalisierung</a:t>
              </a: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FADC28E-7947-619C-0014-5EE2C3876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" y="1564"/>
              <a:ext cx="1395" cy="1545"/>
            </a:xfrm>
            <a:custGeom>
              <a:avLst/>
              <a:gdLst>
                <a:gd name="T0" fmla="*/ 196 w 2686"/>
                <a:gd name="T1" fmla="*/ 0 h 2075"/>
                <a:gd name="T2" fmla="*/ 196 w 2686"/>
                <a:gd name="T3" fmla="*/ 2075 h 2075"/>
                <a:gd name="T4" fmla="*/ 0 w 2686"/>
                <a:gd name="T5" fmla="*/ 2075 h 2075"/>
                <a:gd name="T6" fmla="*/ 0 w 2686"/>
                <a:gd name="T7" fmla="*/ 0 h 2075"/>
                <a:gd name="T8" fmla="*/ 97 w 2686"/>
                <a:gd name="T9" fmla="*/ 193 h 2075"/>
                <a:gd name="T10" fmla="*/ 196 w 2686"/>
                <a:gd name="T11" fmla="*/ 0 h 20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86"/>
                <a:gd name="T19" fmla="*/ 0 h 2075"/>
                <a:gd name="T20" fmla="*/ 2686 w 2686"/>
                <a:gd name="T21" fmla="*/ 2075 h 20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86" h="2075">
                  <a:moveTo>
                    <a:pt x="2686" y="0"/>
                  </a:moveTo>
                  <a:lnTo>
                    <a:pt x="2686" y="2075"/>
                  </a:lnTo>
                  <a:lnTo>
                    <a:pt x="0" y="2075"/>
                  </a:lnTo>
                  <a:lnTo>
                    <a:pt x="0" y="0"/>
                  </a:lnTo>
                  <a:lnTo>
                    <a:pt x="1336" y="19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lIns="36000" tIns="432000" rIns="108000">
              <a:noAutofit/>
            </a:bodyPr>
            <a:lstStyle/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Individuelle Empfehlungen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Personalisierte Informationsumgebungen 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Optimierung von Interaktionen</a:t>
              </a:r>
            </a:p>
          </p:txBody>
        </p:sp>
      </p:grpSp>
      <p:grpSp>
        <p:nvGrpSpPr>
          <p:cNvPr id="16" name="Group 3">
            <a:extLst>
              <a:ext uri="{FF2B5EF4-FFF2-40B4-BE49-F238E27FC236}">
                <a16:creationId xmlns:a16="http://schemas.microsoft.com/office/drawing/2014/main" id="{CF93C18C-13F7-86AC-16E2-E2977CA97979}"/>
              </a:ext>
            </a:extLst>
          </p:cNvPr>
          <p:cNvGrpSpPr>
            <a:grpSpLocks/>
          </p:cNvGrpSpPr>
          <p:nvPr/>
        </p:nvGrpSpPr>
        <p:grpSpPr bwMode="auto">
          <a:xfrm>
            <a:off x="2348613" y="1338435"/>
            <a:ext cx="2188895" cy="3371908"/>
            <a:chOff x="144" y="1064"/>
            <a:chExt cx="1408" cy="2045"/>
          </a:xfrm>
        </p:grpSpPr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09E1CFA4-31BF-A2C5-C061-148D61AB6D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69" y="639"/>
              <a:ext cx="545" cy="1395"/>
            </a:xfrm>
            <a:prstGeom prst="homePlate">
              <a:avLst>
                <a:gd name="adj" fmla="val 27742"/>
              </a:avLst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vert="vert270" lIns="0" tIns="0" rIns="0" bIns="0" anchor="ctr">
              <a:noAutofit/>
            </a:bodyPr>
            <a:lstStyle/>
            <a:p>
              <a:pPr algn="ctr"/>
              <a:r>
                <a:rPr lang="de-DE" sz="1600" b="1" noProof="0" dirty="0">
                  <a:solidFill>
                    <a:schemeClr val="bg1"/>
                  </a:solidFill>
                </a:rPr>
                <a:t>Algorithmische Bewertung</a:t>
              </a: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6AE47740-A0F3-7E23-2282-94B77B3B9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" y="1564"/>
              <a:ext cx="1395" cy="1545"/>
            </a:xfrm>
            <a:custGeom>
              <a:avLst/>
              <a:gdLst>
                <a:gd name="T0" fmla="*/ 196 w 2686"/>
                <a:gd name="T1" fmla="*/ 0 h 2075"/>
                <a:gd name="T2" fmla="*/ 196 w 2686"/>
                <a:gd name="T3" fmla="*/ 2075 h 2075"/>
                <a:gd name="T4" fmla="*/ 0 w 2686"/>
                <a:gd name="T5" fmla="*/ 2075 h 2075"/>
                <a:gd name="T6" fmla="*/ 0 w 2686"/>
                <a:gd name="T7" fmla="*/ 0 h 2075"/>
                <a:gd name="T8" fmla="*/ 97 w 2686"/>
                <a:gd name="T9" fmla="*/ 193 h 2075"/>
                <a:gd name="T10" fmla="*/ 196 w 2686"/>
                <a:gd name="T11" fmla="*/ 0 h 20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686"/>
                <a:gd name="T19" fmla="*/ 0 h 2075"/>
                <a:gd name="T20" fmla="*/ 2686 w 2686"/>
                <a:gd name="T21" fmla="*/ 2075 h 20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686" h="2075">
                  <a:moveTo>
                    <a:pt x="2686" y="0"/>
                  </a:moveTo>
                  <a:lnTo>
                    <a:pt x="2686" y="2075"/>
                  </a:lnTo>
                  <a:lnTo>
                    <a:pt x="0" y="2075"/>
                  </a:lnTo>
                  <a:lnTo>
                    <a:pt x="0" y="0"/>
                  </a:lnTo>
                  <a:lnTo>
                    <a:pt x="1336" y="193"/>
                  </a:lnTo>
                  <a:lnTo>
                    <a:pt x="2686" y="0"/>
                  </a:lnTo>
                  <a:close/>
                </a:path>
              </a:pathLst>
            </a:custGeom>
            <a:solidFill>
              <a:schemeClr val="bg2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lIns="36000" tIns="432000" rIns="108000">
              <a:noAutofit/>
            </a:bodyPr>
            <a:lstStyle/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Ranking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Scoring</a:t>
              </a:r>
            </a:p>
            <a:p>
              <a:pPr marL="180975" indent="-180975">
                <a:lnSpc>
                  <a:spcPct val="120000"/>
                </a:lnSpc>
                <a:buClr>
                  <a:schemeClr val="tx2"/>
                </a:buClr>
                <a:buFont typeface="Wingdings" pitchFamily="2" charset="2"/>
                <a:buChar char="§"/>
              </a:pPr>
              <a:r>
                <a:rPr lang="de-DE" sz="1200" noProof="0" dirty="0"/>
                <a:t>Prognosen</a:t>
              </a:r>
            </a:p>
            <a:p>
              <a:pPr algn="just"/>
              <a:endParaRPr lang="de-DE" sz="2000" noProof="0" dirty="0"/>
            </a:p>
          </p:txBody>
        </p:sp>
      </p:grp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9D06A6-FD12-087F-07F9-EFAAA18B99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538" y="6119587"/>
            <a:ext cx="8350250" cy="296862"/>
          </a:xfrm>
        </p:spPr>
        <p:txBody>
          <a:bodyPr/>
          <a:lstStyle/>
          <a:p>
            <a:r>
              <a:rPr lang="de-DE" noProof="0" dirty="0"/>
              <a:t>Quellen: </a:t>
            </a:r>
            <a:br>
              <a:rPr lang="de-DE" noProof="0" dirty="0"/>
            </a:br>
            <a:r>
              <a:rPr lang="de-DE" noProof="0" dirty="0"/>
              <a:t>Vgl. Kitchin 2014, S. 722; Vgl. </a:t>
            </a:r>
            <a:r>
              <a:rPr lang="de-DE" noProof="0" dirty="0" err="1"/>
              <a:t>Adomavicius</a:t>
            </a:r>
            <a:r>
              <a:rPr lang="de-DE" noProof="0" dirty="0"/>
              <a:t> &amp; </a:t>
            </a:r>
            <a:r>
              <a:rPr lang="de-DE" noProof="0" dirty="0" err="1"/>
              <a:t>Tuzhilin</a:t>
            </a:r>
            <a:r>
              <a:rPr lang="de-DE" noProof="0" dirty="0"/>
              <a:t> 2005, S. 734–735; Vgl. </a:t>
            </a:r>
            <a:r>
              <a:rPr lang="de-DE" noProof="0" dirty="0" err="1"/>
              <a:t>Zuboff</a:t>
            </a:r>
            <a:r>
              <a:rPr lang="de-DE" noProof="0" dirty="0"/>
              <a:t> 2019, S. 14, 66–68.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3C5C852-946E-22D9-7695-8451880A1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E99BE95F-DD09-94A2-196C-8A4368A45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ECA1C70-77D7-F717-51E3-D44C5310B4E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31C57790-ABBC-4851-B188-760423056B54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362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C71BB5-6027-4E78-C78E-7907B88DE0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noProof="0" dirty="0"/>
              <a:t>5. </a:t>
            </a:r>
            <a:r>
              <a:rPr lang="de-DE" noProof="0" dirty="0"/>
              <a:t>Kritische Würdigung</a:t>
            </a:r>
            <a:endParaRPr lang="de-DE" b="0" kern="1200" noProof="0" dirty="0">
              <a:solidFill>
                <a:schemeClr val="tx2">
                  <a:lumMod val="50000"/>
                </a:schemeClr>
              </a:solidFill>
              <a:ea typeface="Times New Roman"/>
              <a:cs typeface="Arial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4A930F-80C5-E889-C080-C35597962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00" y="800100"/>
            <a:ext cx="8351788" cy="4987089"/>
          </a:xfrm>
        </p:spPr>
        <p:txBody>
          <a:bodyPr/>
          <a:lstStyle/>
          <a:p>
            <a:r>
              <a:rPr lang="de-DE" b="0" noProof="0" dirty="0">
                <a:solidFill>
                  <a:schemeClr val="tx1"/>
                </a:solidFill>
              </a:rPr>
              <a:t>Grenzen der Analyse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Proprietäre Systeme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Begrenzte Transparenz </a:t>
            </a:r>
          </a:p>
          <a:p>
            <a:r>
              <a:rPr lang="de-DE" b="0" noProof="0" dirty="0">
                <a:solidFill>
                  <a:schemeClr val="tx1"/>
                </a:solidFill>
              </a:rPr>
              <a:t>Literaturbasis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Heterogene Evidenz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Eingeschränkte Generalisierbarkeit </a:t>
            </a:r>
          </a:p>
          <a:p>
            <a:r>
              <a:rPr lang="de-DE" b="0" noProof="0" dirty="0">
                <a:solidFill>
                  <a:schemeClr val="tx1"/>
                </a:solidFill>
              </a:rPr>
              <a:t>Methodische Grenzen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Keine eigenen Primärdaten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de-DE" b="0" noProof="0" dirty="0">
                <a:solidFill>
                  <a:schemeClr val="tx1"/>
                </a:solidFill>
              </a:rPr>
              <a:t>Keine kausale Validierung</a:t>
            </a:r>
          </a:p>
          <a:p>
            <a:br>
              <a:rPr lang="de-DE" b="0" noProof="0" dirty="0">
                <a:solidFill>
                  <a:schemeClr val="tx1"/>
                </a:solidFill>
              </a:rPr>
            </a:br>
            <a:r>
              <a:rPr lang="de-DE" noProof="0" dirty="0"/>
              <a:t>Konzeptionell erklärungsstark – empirisch begrenzt</a:t>
            </a:r>
            <a:endParaRPr lang="de-DE" b="0" noProof="0" dirty="0">
              <a:solidFill>
                <a:schemeClr val="tx1"/>
              </a:solidFill>
            </a:endParaRPr>
          </a:p>
          <a:p>
            <a:endParaRPr lang="de-DE" noProof="0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24A48B2-64B5-2D1A-615D-945F369783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9538" y="6119587"/>
            <a:ext cx="8350250" cy="296862"/>
          </a:xfrm>
        </p:spPr>
        <p:txBody>
          <a:bodyPr/>
          <a:lstStyle/>
          <a:p>
            <a:r>
              <a:rPr lang="en-US" dirty="0" err="1"/>
              <a:t>Quellen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Vgl</a:t>
            </a:r>
            <a:r>
              <a:rPr lang="en-US" dirty="0"/>
              <a:t>. Pasquale 2015, S. 6–9, 14–15; </a:t>
            </a:r>
            <a:r>
              <a:rPr lang="en-US" dirty="0" err="1"/>
              <a:t>Vgl</a:t>
            </a:r>
            <a:r>
              <a:rPr lang="en-US" dirty="0"/>
              <a:t>. Orben &amp; Przybylski 2019, S. 2, 4–5.</a:t>
            </a:r>
            <a:endParaRPr lang="de-DE" noProof="0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1181CFE-9F43-8BED-09AF-8657F014A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8</a:t>
            </a:fld>
            <a:endParaRPr lang="de-DE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A0C2549-EA1F-1A7B-A83A-3D799C5E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513216C8-9256-B700-71B2-6909F7D14D2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D0EA2537-860E-45EC-BF47-E4E0A5B2D51D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291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2281-60D4-7CBF-1B39-EB2006F0D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6ACF22-32CB-4E30-0F20-64D1AFBDBE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noProof="0" dirty="0"/>
              <a:t>6</a:t>
            </a:r>
            <a:r>
              <a:rPr lang="de-DE" b="1" noProof="0" dirty="0"/>
              <a:t>. </a:t>
            </a:r>
            <a:r>
              <a:rPr lang="de-DE" noProof="0" dirty="0"/>
              <a:t>Fazit &amp; Ausblick</a:t>
            </a:r>
            <a:endParaRPr lang="de-DE" b="1" noProof="0" dirty="0"/>
          </a:p>
        </p:txBody>
      </p:sp>
      <p:grpSp>
        <p:nvGrpSpPr>
          <p:cNvPr id="16" name="Gruppieren 40">
            <a:extLst>
              <a:ext uri="{FF2B5EF4-FFF2-40B4-BE49-F238E27FC236}">
                <a16:creationId xmlns:a16="http://schemas.microsoft.com/office/drawing/2014/main" id="{F5C39549-98D0-4577-D3BA-BC12E4381AB6}"/>
              </a:ext>
            </a:extLst>
          </p:cNvPr>
          <p:cNvGrpSpPr/>
          <p:nvPr/>
        </p:nvGrpSpPr>
        <p:grpSpPr>
          <a:xfrm>
            <a:off x="4817010" y="1890712"/>
            <a:ext cx="3642778" cy="3642778"/>
            <a:chOff x="4621411" y="1447800"/>
            <a:chExt cx="4252378" cy="4252378"/>
          </a:xfrm>
        </p:grpSpPr>
        <p:sp>
          <p:nvSpPr>
            <p:cNvPr id="17" name="Rad 31">
              <a:extLst>
                <a:ext uri="{FF2B5EF4-FFF2-40B4-BE49-F238E27FC236}">
                  <a16:creationId xmlns:a16="http://schemas.microsoft.com/office/drawing/2014/main" id="{6964C7B1-5465-A569-3AB2-520BBDBE0F61}"/>
                </a:ext>
              </a:extLst>
            </p:cNvPr>
            <p:cNvSpPr/>
            <p:nvPr/>
          </p:nvSpPr>
          <p:spPr>
            <a:xfrm>
              <a:off x="5181600" y="2007989"/>
              <a:ext cx="3132000" cy="3132000"/>
            </a:xfrm>
            <a:prstGeom prst="donut">
              <a:avLst>
                <a:gd name="adj" fmla="val 9765"/>
              </a:avLst>
            </a:prstGeom>
            <a:solidFill>
              <a:schemeClr val="accent2">
                <a:lumMod val="7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>
                <a:solidFill>
                  <a:schemeClr val="tx1"/>
                </a:solidFill>
              </a:endParaRPr>
            </a:p>
          </p:txBody>
        </p:sp>
        <p:sp>
          <p:nvSpPr>
            <p:cNvPr id="18" name="Rad 37">
              <a:extLst>
                <a:ext uri="{FF2B5EF4-FFF2-40B4-BE49-F238E27FC236}">
                  <a16:creationId xmlns:a16="http://schemas.microsoft.com/office/drawing/2014/main" id="{0A3FC0F4-38EA-FD58-4946-1497ABCBC468}"/>
                </a:ext>
              </a:extLst>
            </p:cNvPr>
            <p:cNvSpPr/>
            <p:nvPr/>
          </p:nvSpPr>
          <p:spPr>
            <a:xfrm>
              <a:off x="5790533" y="2616923"/>
              <a:ext cx="1914134" cy="1914132"/>
            </a:xfrm>
            <a:prstGeom prst="donut">
              <a:avLst>
                <a:gd name="adj" fmla="val 15607"/>
              </a:avLst>
            </a:prstGeom>
            <a:solidFill>
              <a:schemeClr val="accent2">
                <a:lumMod val="5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>
                <a:solidFill>
                  <a:schemeClr val="tx1"/>
                </a:solidFill>
              </a:endParaRPr>
            </a:p>
          </p:txBody>
        </p:sp>
        <p:sp>
          <p:nvSpPr>
            <p:cNvPr id="19" name="Ellipse 38">
              <a:extLst>
                <a:ext uri="{FF2B5EF4-FFF2-40B4-BE49-F238E27FC236}">
                  <a16:creationId xmlns:a16="http://schemas.microsoft.com/office/drawing/2014/main" id="{96550245-7CFC-49AF-3E5E-A6DE3A8629FB}"/>
                </a:ext>
              </a:extLst>
            </p:cNvPr>
            <p:cNvSpPr/>
            <p:nvPr/>
          </p:nvSpPr>
          <p:spPr>
            <a:xfrm>
              <a:off x="6408600" y="3234990"/>
              <a:ext cx="678000" cy="677998"/>
            </a:xfrm>
            <a:prstGeom prst="ellipse">
              <a:avLst/>
            </a:prstGeom>
            <a:solidFill>
              <a:schemeClr val="accent2">
                <a:lumMod val="2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  <p:sp>
          <p:nvSpPr>
            <p:cNvPr id="20" name="Rad 39">
              <a:extLst>
                <a:ext uri="{FF2B5EF4-FFF2-40B4-BE49-F238E27FC236}">
                  <a16:creationId xmlns:a16="http://schemas.microsoft.com/office/drawing/2014/main" id="{B0CF5583-CBF4-7DF8-736D-8004071CE894}"/>
                </a:ext>
              </a:extLst>
            </p:cNvPr>
            <p:cNvSpPr/>
            <p:nvPr/>
          </p:nvSpPr>
          <p:spPr>
            <a:xfrm>
              <a:off x="4621411" y="1447800"/>
              <a:ext cx="4252378" cy="4252378"/>
            </a:xfrm>
            <a:prstGeom prst="donut">
              <a:avLst>
                <a:gd name="adj" fmla="val 6836"/>
              </a:avLst>
            </a:prstGeom>
            <a:solidFill>
              <a:schemeClr val="accent2">
                <a:lumMod val="9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AutoShape 7">
            <a:extLst>
              <a:ext uri="{FF2B5EF4-FFF2-40B4-BE49-F238E27FC236}">
                <a16:creationId xmlns:a16="http://schemas.microsoft.com/office/drawing/2014/main" id="{9D50FC8E-9DB9-7C4D-253B-5D8A28677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93" y="1649939"/>
            <a:ext cx="6516565" cy="4124325"/>
          </a:xfrm>
          <a:prstGeom prst="homePlate">
            <a:avLst>
              <a:gd name="adj" fmla="val 25911"/>
            </a:avLst>
          </a:prstGeom>
          <a:solidFill>
            <a:schemeClr val="bg1">
              <a:alpha val="40000"/>
            </a:schemeClr>
          </a:solidFill>
          <a:ln w="19050">
            <a:solidFill>
              <a:schemeClr val="bg2">
                <a:lumMod val="25000"/>
              </a:schemeClr>
            </a:solidFill>
            <a:miter lim="800000"/>
            <a:headEnd/>
            <a:tailEnd/>
          </a:ln>
        </p:spPr>
        <p:txBody>
          <a:bodyPr lIns="216000" tIns="108000" rIns="648000" bIns="108000" anchor="ctr">
            <a:no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None/>
            </a:pPr>
            <a:r>
              <a:rPr lang="de-DE" sz="1800" b="1" dirty="0">
                <a:solidFill>
                  <a:schemeClr val="accent1"/>
                </a:solidFill>
                <a:latin typeface="+mn-lt"/>
              </a:rPr>
              <a:t>Fazit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Daten → Analyse → Bewertung → Entscheidung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KI-gestützte Monitoring-Systeme = digitale Informationssysteme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Verhaltensbeeinflussung durch algorithmische Interventionen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Soziotechnische und gesellschaftliche Auswirkungen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None/>
            </a:pPr>
            <a:r>
              <a:rPr lang="de-DE" sz="1800" b="1" dirty="0">
                <a:solidFill>
                  <a:schemeClr val="accent1"/>
                </a:solidFill>
                <a:latin typeface="+mn-lt"/>
              </a:rPr>
              <a:t>Ausblick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Mehr Transparenz und Nachvollziehbarkeit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Weiterentwicklung von </a:t>
            </a:r>
            <a:r>
              <a:rPr lang="de-DE" sz="1600" noProof="0" dirty="0" err="1">
                <a:latin typeface="+mn-lt"/>
              </a:rPr>
              <a:t>Governance</a:t>
            </a:r>
            <a:r>
              <a:rPr lang="de-DE" sz="1600" noProof="0" dirty="0">
                <a:latin typeface="+mn-lt"/>
              </a:rPr>
              <a:t> und Regulierung </a:t>
            </a:r>
          </a:p>
          <a:p>
            <a:pPr>
              <a:spcBef>
                <a:spcPts val="300"/>
              </a:spcBef>
              <a:spcAft>
                <a:spcPts val="600"/>
              </a:spcAft>
              <a:buClr>
                <a:srgbClr val="23A092"/>
              </a:buClr>
              <a:buFont typeface="Arial" panose="020B0604020202020204" pitchFamily="34" charset="0"/>
              <a:buChar char="•"/>
            </a:pPr>
            <a:r>
              <a:rPr lang="de-DE" sz="1600" noProof="0" dirty="0">
                <a:latin typeface="+mn-lt"/>
              </a:rPr>
              <a:t>Empirische Untersuchung konkreter Systeme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9A1BA23-CC00-949D-C2C6-5C8D7394C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3A57D9-08E7-4A35-820C-6C5F68307974}" type="slidenum">
              <a:rPr lang="de-DE" smtClean="0"/>
              <a:pPr>
                <a:defRPr/>
              </a:pPr>
              <a:t>9</a:t>
            </a:fld>
            <a:endParaRPr lang="de-DE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1CB9649-E859-9F5F-663A-5117AD9E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Meshan Fernando</a:t>
            </a:r>
            <a:endParaRPr lang="de-DE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EF5D28DD-F84F-2DE4-EF68-C768DD3CD36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r">
              <a:defRPr/>
            </a:pPr>
            <a:fld id="{D3D141EC-3AB7-4E58-9888-8F3B0B79EC06}" type="datetime1">
              <a:rPr lang="de-DE" smtClean="0"/>
              <a:t>10.08.2026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4756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0E832A-BE13-523F-B517-F934BD7D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9010" y="0"/>
            <a:ext cx="9273396" cy="6858000"/>
          </a:xfrm>
          <a:prstGeom prst="rect">
            <a:avLst/>
          </a:prstGeom>
        </p:spPr>
      </p:pic>
      <p:sp>
        <p:nvSpPr>
          <p:cNvPr id="4" name="Inhaltsplatzhalter 1">
            <a:extLst>
              <a:ext uri="{FF2B5EF4-FFF2-40B4-BE49-F238E27FC236}">
                <a16:creationId xmlns:a16="http://schemas.microsoft.com/office/drawing/2014/main" id="{B8975E84-A7E4-FFB8-F89C-0C9F9BA8115C}"/>
              </a:ext>
            </a:extLst>
          </p:cNvPr>
          <p:cNvSpPr txBox="1">
            <a:spLocks/>
          </p:cNvSpPr>
          <p:nvPr/>
        </p:nvSpPr>
        <p:spPr>
          <a:xfrm>
            <a:off x="258717" y="2856235"/>
            <a:ext cx="8321765" cy="1448115"/>
          </a:xfr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-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o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Clr>
                <a:srgbClr val="23A092"/>
              </a:buClr>
              <a:buNone/>
            </a:pPr>
            <a:r>
              <a:rPr lang="de-DE" sz="3200" b="1" noProof="0" dirty="0">
                <a:solidFill>
                  <a:srgbClr val="00998A"/>
                </a:solidFill>
              </a:rPr>
              <a:t>Vielen Dank für Ihre Aufmerksamkeit!</a:t>
            </a:r>
          </a:p>
          <a:p>
            <a:pPr algn="ctr">
              <a:buClr>
                <a:srgbClr val="23A092"/>
              </a:buClr>
              <a:buNone/>
            </a:pPr>
            <a:r>
              <a:rPr lang="de-DE" sz="3200" b="1" noProof="0" dirty="0">
                <a:solidFill>
                  <a:srgbClr val="00998A"/>
                </a:solidFill>
              </a:rPr>
              <a:t>Haben Sie noch Fragen?</a:t>
            </a:r>
          </a:p>
        </p:txBody>
      </p:sp>
      <p:sp>
        <p:nvSpPr>
          <p:cNvPr id="6" name="AutoShape 2" descr="A professional and modern image symbolizing successful business negotiations and agreements. The scene features two people in business attire shaking hands in a bright, modern office setting. The background is minimalistic with clean lines and soft blue and white tones, conveying professionalism and clarity. Subtle details like a negotiation table, documents, and a laptop are visible, emphasizing a formal business environment. The atmosphere is positive and collaborative, reflecting mutual agreement and successful communication.">
            <a:extLst>
              <a:ext uri="{FF2B5EF4-FFF2-40B4-BE49-F238E27FC236}">
                <a16:creationId xmlns:a16="http://schemas.microsoft.com/office/drawing/2014/main" id="{FE338B33-2AC4-123E-8490-F4962DCDAC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5117683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EE4P_AGENDAWIZARD" val="&lt;ee4p&gt;&lt;layouts&gt;&lt;layout name=&quot;Line&quot; id=&quot;1_2&quot;&gt;&lt;standard&gt;&lt;textframe horizontalAnchor=&quot;1&quot; marginBottom=&quot;6&quot; marginLeft=&quot;0&quot; marginRight=&quot;0&quot; marginTop=&quot;6&quot; orientation=&quot;1&quot; verticalAnchor=&quot;1&quot; /&gt;&lt;font name=&quot;Arial&quot; bold=&quot;0&quot; italic=&quot;0&quot; color=&quot;13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25.000001&quot; /&gt;&lt;column field=&quot;topic&quot; label=&quot;Topic&quot; leftSpacing=&quot;5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31.12504&quot; top=&quot;133.875&quot; width=&quot;657.75&quot; height=&quot;351.625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.5|11|12|14|16|18&quot; allowedTimeFormatIds=&quot;1|2|3&quot; slideLayout=&quot;11&quot; customLayoutName=&quot;Nur Titel|Title Only&quot; customLayoutIndex=&quot;&quot; showBreak=&quot;1&quot; singleAgendaSlideSelected=&quot;0&quot; backupSlideTitle=&quot;Backup: %agendaName%&quot; topMargin=&quot;0&quot; leftMargin=&quot;0&quot; allowedLevels=&quot;4&quot; itemNoFormats=&quot;{1}¦{1}.{2}¦{3:alphaLC}¦{3:alphaLC}.{4:alphaLC}&quot; /&gt;&lt;!-- Agenda item formats --&gt;&lt;cases&gt;&lt;case level=&quot;1&quot; selected=&quot;0&quot; break=&quot;0&quot; topMinSpacing=&quot;5&quot; topMaxSpacing=&quot;5&quot; bottomMinSpacing=&quot;0&quot; bottomMaxSpacing=&quot;0&quot;&gt;&lt;element field=&quot;itemno&quot; type=&quot;autoshape&quot; autoShapeType=&quot;1&quot;&gt;&lt;textframe marginLeft=&quot;6&quot; marginRight=&quot;0&quot; /&gt;&lt;paragraphformat alignment=&quot;1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itemno&quot; type=&quot;autoshape&quot; autoShapeType=&quot;1&quot;&gt;&lt;textframe marginLeft=&quot;6&quot; marginRight=&quot;0&quot; /&gt;&lt;paragraphformat alignment=&quot;1&quot; /&gt;&lt;font color=&quot;5&quot; /&gt;&lt;/element&gt;&lt;element field=&quot;topic&quot; type=&quot;autoshape&quot; autoShapeType=&quot;1&quot;&gt;&lt;paragraphformat alignment=&quot;1&quot; /&gt;&lt;font color=&quot;5&quot; /&gt;&lt;textframe marginLeft=&quot;0&quot; /&gt;&lt;/element&gt;&lt;element field=&quot;responsible&quot; type=&quot;autoshape&quot; autoShapeType=&quot;1&quot;&gt;&lt;paragraphformat alignment=&quot;1&quot; /&gt;&lt;font color=&quot;5&quot; /&gt;&lt;/element&gt;&lt;element field=&quot;freecolumn&quot; type=&quot;autoshape&quot; autoShapeType=&quot;1&quot;&gt;&lt;paragraphformat alignment=&quot;1&quot; /&gt;&lt;font color=&quot;5&quot; /&gt;&lt;/element&gt;&lt;element field=&quot;timeslot&quot; type=&quot;autoshape&quot; autoShapeType=&quot;1&quot;&gt;&lt;paragraphformat alignment=&quot;1&quot; /&gt;&lt;font color=&quot;5&quot; /&gt;&lt;/element&gt;&lt;element field=&quot;pageno&quot; type=&quot;autoshape&quot; autoShapeType=&quot;1&quot;&gt;&lt;paragraphformat alignment=&quot;3&quot; /&gt;&lt;font color=&quot;5&quot; /&gt;&lt;/element&gt;&lt;/case&gt;&lt;case level=&quot;2&quot; selected=&quot;0&quot; break=&quot;0&quot; topMinSpacing=&quot;5&quot; topMaxSpacing=&quot;5&quot; bottomMinSpacing=&quot;0&quot; bottomMaxSpacing=&quot;0&quot;&gt;&lt;element field=&quot;itemno&quot; type=&quot;autoshape&quot; autoShapeType=&quot;1&quot; indent=&quot;(level-1)*(itemSingleHeight*25/31.50472+topicLeftSpacing) &quot; indentType=&quot;1&quot;&gt;&lt;textframe marginLeft=&quot;0&quot; marginRight=&quot;0&quot; /&gt;&lt;paragraphformat alignment=&quot;1&quot; /&gt;&lt;/element&gt;&lt;element field=&quot;topic&quot; type=&quot;autoshape&quot; autoShapeType=&quot;1&quot; indent=&quot;(level-1)*(itemSingleHeight*25/31.50472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itemno&quot; type=&quot;autoshape&quot; autoShapeType=&quot;1&quot; indent=&quot;(level-1)*(itemSingleHeight*25/31.50472+topicLeftSpacing) &quot; indentType=&quot;1&quot;&gt;&lt;textframe marginLeft=&quot;0&quot; marginRight=&quot;0&quot; /&gt;&lt;paragraphformat alignment=&quot;1&quot; /&gt;&lt;font color=&quot;5&quot; /&gt;&lt;/element&gt;&lt;element field=&quot;topic&quot; type=&quot;autoshape&quot; autoShapeType=&quot;1&quot; indent=&quot;(level-1)*(itemSingleHeight*25/31.50472+topicLeftSpacing) &quot; indentType=&quot;2&quot;&gt;&lt;paragraphformat alignment=&quot;1&quot; /&gt;&lt;font color=&quot;5&quot; /&gt;&lt;textframe marginLeft=&quot;0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color=&quot;5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color=&quot;5&quot; /&gt;&lt;/element&gt;&lt;element field=&quot;timeslot&quot; type=&quot;autoshape&quot; autoShapeType=&quot;1&quot;&gt;&lt;paragraphformat alignment=&quot;1&quot; /&gt;&lt;font color=&quot;5&quot; /&gt;&lt;/element&gt;&lt;element field=&quot;pageno&quot; type=&quot;autoshape&quot; autoShapeType=&quot;1&quot;&gt;&lt;paragraphformat alignment=&quot;3&quot; /&gt;&lt;font color=&quot;5&quot; /&gt;&lt;/element&gt;&lt;/case&gt;&lt;case level=&quot;1&quot; selected=&quot;0&quot; break=&quot;1&quot; topMinSpacing=&quot;5&quot; topMaxSpacing=&quot;5&quot; bottomMinSpacing=&quot;0&quot; bottomMaxSpacing=&quot;0&quot;&gt;&lt;element field=&quot;topic&quot; type=&quot;autoshape&quot; autoShapeType=&quot;1&quot; indent=&quot;(level-1)*(itemSingleHeight*25/31.50472+topicLeftSpacing) &quot; indentType=&quot;2&quot;&gt;&lt;paragraphformat alignment=&quot;1&quot; /&gt;&lt;font italic=&quot;1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italic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5&quot; topMaxSpacing=&quot;5&quot; bottomMinSpacing=&quot;0&quot; bottomMaxSpacing=&quot;0&quot;&gt;&lt;element type=&quot;line&quot; value=&quot;&quot;&gt;&lt;position left=&quot;0&quot; top=&quot;itemHeight&quot; width=&quot;agendaWidth&quot; height=&quot;0&quot; /&gt;&lt;line style=&quot;1&quot; dashStyle=&quot;1&quot; foreColor=&quot;5&quot; transparency=&quot;0&quot; visible=&quot;1&quot; weight=&quot;0.75&quot; /&gt;&lt;/element&gt;&lt;element type=&quot;line&quot; value=&quot;&quot;&gt;&lt;position left=&quot;0&quot; top=&quot;0&quot; width=&quot;agendaWidth&quot; height=&quot;0&quot; /&gt;&lt;line style=&quot;1&quot; dashStyle=&quot;1&quot; foreColor=&quot;5&quot; transparency=&quot;0&quot; visible=&quot;1&quot; weight=&quot;0.75&quot; /&gt;&lt;/element&gt;&lt;element field=&quot;topic&quot; type=&quot;autoshape&quot; autoShapeType=&quot;1&quot; indent=&quot;(level-1)*(itemSingleHeight*25/31.50472+topicLeftSpacing) &quot; indentType=&quot;2&quot;&gt;&lt;paragraphformat alignment=&quot;1&quot; /&gt;&lt;font color=&quot;5&quot; italic=&quot;1&quot; /&gt;&lt;/element&gt;&lt;element field=&quot;responsible&quot; type=&quot;autoshape&quot; autoShapeType=&quot;1&quot; indent=&quot;(level-1)*(itemSingleHeight*25/31.50472+topicLeftSpacing) &quot; indentType=&quot;1&quot;&gt;&lt;paragraphformat alignment=&quot;1&quot; /&gt;&lt;font color=&quot;5&quot; italic=&quot;1&quot; /&gt;&lt;/element&gt;&lt;element field=&quot;freecolumn&quot; type=&quot;autoshape&quot; autoShapeType=&quot;1&quot; indent=&quot;(level-1)*(itemSingleHeight*25/31.50472+topicLeftSpacing) &quot; indentType=&quot;1&quot;&gt;&lt;paragraphformat alignment=&quot;1&quot; /&gt;&lt;font color=&quot;5&quot; italic=&quot;1&quot; /&gt;&lt;/element&gt;&lt;element field=&quot;timeslot&quot; type=&quot;autoshape&quot; autoShapeType=&quot;1&quot;&gt;&lt;paragraphformat alignment=&quot;1&quot; /&gt;&lt;font color=&quot;5&quot; italic=&quot;1&quot; /&gt;&lt;/element&gt;&lt;element field=&quot;pageno&quot; type=&quot;autoshape&quot; autoShapeType=&quot;1&quot;&gt;&lt;paragraphformat alignment=&quot;3&quot; /&gt;&lt;font color=&quot;5&quot; italic=&quot;1&quot; /&gt;&lt;/element&gt;&lt;/case&gt;&lt;/cases&gt;&lt;!-- Elements on slide independent of items --&gt;&lt;elements&gt;&lt;!--&#10;        &lt;element type=&quot;textbox&quot; zOrder=&quot;1&quot; value=&quot;test&quot;&gt;&#10;          &lt;position left=&quot;0&quot; top=&quot;0&quot; width=&quot;30&quot; height=&quot;30&quot;/&gt;&#10;        &lt;/element&gt;&#10;      --&gt;&lt;/elements&gt;&lt;/layout&gt;&lt;/layouts&gt;&lt;contents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0&quot; layoutId=&quot;1_2&quot; createSections=&quot;0&quot; singleSlideId=&quot;51f7ba3d-68d6-4fc8-8b40-294cb43c9432&quot;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rightSpacing=&quot;618.7883&quot; /&gt;&lt;column field=&quot;responsible&quot; label=&quot;Responsible&quot; visible=&quot;1&quot; checked=&quot;0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0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cd681a9-5cfe-40c0-9de0-af19ddfc5301&quot; parentId=&quot;&quot; level=&quot;1&quot; generateAgendaSlide=&quot;1&quot; showAgendaItem=&quot;1&quot; isBreak=&quot;0&quot; topic=&quot;1&quot; agendaSlideId=&quot;4255c1f9-415e-427c-82ad-d4ddc27866ef&quot; /&gt;&lt;item duration=&quot;30&quot; id=&quot;b3db0675-cd81-4fe7-a6d9-897357be3466&quot; parentId=&quot;&quot; level=&quot;1&quot; generateAgendaSlide=&quot;1&quot; showAgendaItem=&quot;1&quot; isBreak=&quot;0&quot; topic=&quot;2&quot; agendaSlideId=&quot;eb1224cd-48a4-4f3e-84f9-0dfb9ba5a6a5&quot; /&gt;&lt;item duration=&quot;30&quot; id=&quot;be116e7f-d8ea-4e2f-a4cf-ba62f3ccfc77&quot; parentId=&quot;&quot; level=&quot;1&quot; generateAgendaSlide=&quot;1&quot; showAgendaItem=&quot;1&quot; isBreak=&quot;0&quot; topic=&quot;3&quot; agendaSlideId=&quot;cae28622-a96d-46b6-ba3f-3d6645c10d7c&quot; /&gt;&lt;/items&gt;&lt;/agenda&gt;&lt;/contents&gt;&lt;/ee4p&gt;"/>
</p:tagLst>
</file>

<file path=ppt/theme/theme1.xml><?xml version="1.0" encoding="utf-8"?>
<a:theme xmlns:a="http://schemas.openxmlformats.org/drawingml/2006/main" name="PPT-Vorlage_der_FOM_20170109">
  <a:themeElements>
    <a:clrScheme name="FOM_neu">
      <a:dk1>
        <a:srgbClr val="262626"/>
      </a:dk1>
      <a:lt1>
        <a:sysClr val="window" lastClr="FFFFFF"/>
      </a:lt1>
      <a:dk2>
        <a:srgbClr val="717D87"/>
      </a:dk2>
      <a:lt2>
        <a:srgbClr val="DBDEE1"/>
      </a:lt2>
      <a:accent1>
        <a:srgbClr val="00998A"/>
      </a:accent1>
      <a:accent2>
        <a:srgbClr val="BFE5E2"/>
      </a:accent2>
      <a:accent3>
        <a:srgbClr val="A10010"/>
      </a:accent3>
      <a:accent4>
        <a:srgbClr val="E7C2C3"/>
      </a:accent4>
      <a:accent5>
        <a:srgbClr val="00A7E4"/>
      </a:accent5>
      <a:accent6>
        <a:srgbClr val="FF9700"/>
      </a:accent6>
      <a:hlink>
        <a:srgbClr val="00998A"/>
      </a:hlink>
      <a:folHlink>
        <a:srgbClr val="00998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accent1">
              <a:lumMod val="75000"/>
            </a:schemeClr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8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12700">
          <a:noFill/>
        </a:ln>
        <a:effectLst/>
      </a:spPr>
      <a:bodyPr vert="horz" wrap="square" lIns="0" tIns="36000" rIns="0" bIns="3600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rgbClr val="23A092"/>
          </a:buClr>
          <a:buSzPct val="80000"/>
          <a:buFont typeface="Wingdings" pitchFamily="2" charset="2"/>
          <a:buNone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</a:defRPr>
        </a:defPPr>
      </a:lstStyle>
    </a:tx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PT-Vorlage_der_FOM_Stand-Nov2019" id="{ED2EEE41-4544-4C6B-B0A1-0E6610FA7A01}" vid="{71A2FBCD-2AAB-46D1-831B-05C89A0B4C96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b87e725-c9c6-4db6-ab8a-2e50f616407d}" enabled="1" method="Privileged" siteId="{4a99dc2e-6142-461b-95d6-e839b592cfc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PPT-Vorlage_der_FOM_Stand-Nov2019(1)</Template>
  <TotalTime>0</TotalTime>
  <Words>1260</Words>
  <Application>Microsoft Office PowerPoint</Application>
  <PresentationFormat>On-screen Show (4:3)</PresentationFormat>
  <Paragraphs>161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Times New Roman</vt:lpstr>
      <vt:lpstr>Wingdings</vt:lpstr>
      <vt:lpstr>PPT-Vorlage_der_FOM_20170109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Carsten Kotas</dc:creator>
  <cp:lastModifiedBy>Meshan Fernando</cp:lastModifiedBy>
  <cp:revision>26</cp:revision>
  <cp:lastPrinted>2017-05-23T12:11:59Z</cp:lastPrinted>
  <dcterms:created xsi:type="dcterms:W3CDTF">2020-08-03T07:44:53Z</dcterms:created>
  <dcterms:modified xsi:type="dcterms:W3CDTF">2026-08-10T18:18:48Z</dcterms:modified>
  <cp:version>20140523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PPT-Vorlage_der_FOM_20170109:3</vt:lpwstr>
  </property>
  <property fmtid="{D5CDD505-2E9C-101B-9397-08002B2CF9AE}" pid="3" name="ClassificationContentMarkingFooterText">
    <vt:lpwstr>Öffentlich / Public</vt:lpwstr>
  </property>
</Properties>
</file>