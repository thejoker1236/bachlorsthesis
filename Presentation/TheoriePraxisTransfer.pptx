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30" r:id="rId2"/>
    <p:sldId id="335" r:id="rId3"/>
    <p:sldId id="294" r:id="rId4"/>
    <p:sldId id="336" r:id="rId5"/>
    <p:sldId id="337" r:id="rId6"/>
    <p:sldId id="338" r:id="rId7"/>
    <p:sldId id="339" r:id="rId8"/>
    <p:sldId id="344" r:id="rId9"/>
    <p:sldId id="349" r:id="rId10"/>
  </p:sldIdLst>
  <p:sldSz cx="9144000" cy="6858000" type="screen4x3"/>
  <p:notesSz cx="6811963" cy="9942513"/>
  <p:custDataLst>
    <p:tags r:id="rId13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E3C2D9-3E93-476C-BD29-AB3FCF6DF8E8}">
          <p14:sldIdLst>
            <p14:sldId id="330"/>
            <p14:sldId id="335"/>
            <p14:sldId id="294"/>
            <p14:sldId id="336"/>
            <p14:sldId id="337"/>
            <p14:sldId id="338"/>
            <p14:sldId id="339"/>
            <p14:sldId id="344"/>
            <p14:sldId id="34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931"/>
    <a:srgbClr val="FF6600"/>
    <a:srgbClr val="8FB63E"/>
    <a:srgbClr val="679E9B"/>
    <a:srgbClr val="6B1B4B"/>
    <a:srgbClr val="007C91"/>
    <a:srgbClr val="00B3F0"/>
    <a:srgbClr val="D09910"/>
    <a:srgbClr val="00594D"/>
    <a:srgbClr val="9ADB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764" autoAdjust="0"/>
  </p:normalViewPr>
  <p:slideViewPr>
    <p:cSldViewPr snapToGrid="0" snapToObjects="1" showGuides="1">
      <p:cViewPr varScale="1">
        <p:scale>
          <a:sx n="159" d="100"/>
          <a:sy n="159" d="100"/>
        </p:scale>
        <p:origin x="948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3474" y="102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15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BD6B031-F9E6-4257-BEFE-97AC0BFD9929}" type="datetime1">
              <a:rPr lang="de-DE" smtClean="0"/>
              <a:t>07.08.2026</a:t>
            </a:fld>
            <a:endParaRPr lang="de-DE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15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C7157A5-FB16-48B7-B216-6660B3138BE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6848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15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37B09C-7F70-4F9A-A900-E88478135E06}" type="datetime1">
              <a:rPr lang="de-DE" smtClean="0"/>
              <a:t>07.08.2026</a:t>
            </a:fld>
            <a:endParaRPr lang="de-DE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47" y="4722047"/>
            <a:ext cx="4995872" cy="4474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15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CB6D199-8F06-4346-AE65-F23F023EED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11830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7B72803-4596-439A-A1FF-AE633C68A548}" type="datetime1">
              <a:rPr lang="de-DE" smtClean="0"/>
              <a:t>07.08.2026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80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Inhaltsplatzhalter 10"/>
          <p:cNvSpPr>
            <a:spLocks noGrp="1"/>
          </p:cNvSpPr>
          <p:nvPr>
            <p:ph sz="quarter" idx="13" hasCustomPrompt="1"/>
          </p:nvPr>
        </p:nvSpPr>
        <p:spPr>
          <a:xfrm>
            <a:off x="437222" y="3863556"/>
            <a:ext cx="8022566" cy="1354301"/>
          </a:xfrm>
        </p:spPr>
        <p:txBody>
          <a:bodyPr lIns="91440" tIns="45720" rIns="0" bIns="45720" anchor="b">
            <a:noAutofit/>
          </a:bodyPr>
          <a:lstStyle>
            <a:lvl1pPr algn="r">
              <a:buFontTx/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Modulname / Veranstaltung</a:t>
            </a:r>
          </a:p>
        </p:txBody>
      </p:sp>
      <p:sp>
        <p:nvSpPr>
          <p:cNvPr id="28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437222" y="5750928"/>
            <a:ext cx="8022566" cy="361920"/>
          </a:xfrm>
        </p:spPr>
        <p:txBody>
          <a:bodyPr lIns="91440" tIns="45720" rIns="0" bIns="45720">
            <a:noAutofit/>
          </a:bodyPr>
          <a:lstStyle>
            <a:lvl1pPr algn="r">
              <a:buFontTx/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Vortragende/r</a:t>
            </a:r>
          </a:p>
        </p:txBody>
      </p:sp>
      <p:sp>
        <p:nvSpPr>
          <p:cNvPr id="29" name="Inhaltsplatzhalter 10"/>
          <p:cNvSpPr>
            <a:spLocks noGrp="1"/>
          </p:cNvSpPr>
          <p:nvPr>
            <p:ph sz="quarter" idx="15" hasCustomPrompt="1"/>
          </p:nvPr>
        </p:nvSpPr>
        <p:spPr>
          <a:xfrm>
            <a:off x="437222" y="5218247"/>
            <a:ext cx="8022566" cy="361920"/>
          </a:xfrm>
        </p:spPr>
        <p:txBody>
          <a:bodyPr lIns="91440" tIns="45720" rIns="0" bIns="45720">
            <a:noAutofit/>
          </a:bodyPr>
          <a:lstStyle>
            <a:lvl1pPr algn="r">
              <a:buFontTx/>
              <a:buNone/>
              <a:defRPr sz="1800" b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de-DE" dirty="0"/>
              <a:t>ggfs. Untertitel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952D6D-9DC7-4B0B-AB1D-6455E1BAF6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238" y="135028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3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Ihr Name – bitte anpassen über „Einfügen“ / Kopf- und Fußzeile</a:t>
            </a:r>
            <a:endParaRPr lang="de-DE" dirty="0"/>
          </a:p>
        </p:txBody>
      </p:sp>
      <p:sp>
        <p:nvSpPr>
          <p:cNvPr id="1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C56EBC-D08B-471E-ACE4-D1109E130940}" type="datetime1">
              <a:rPr lang="de-DE" smtClean="0"/>
              <a:t>07.08.2026</a:t>
            </a:fld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108000" y="800100"/>
            <a:ext cx="8351788" cy="56198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616CD4-D9A1-49DD-926A-2AB2A15980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8" y="6119587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673136" y="3683480"/>
            <a:ext cx="6786652" cy="1250830"/>
          </a:xfrm>
          <a:prstGeom prst="rect">
            <a:avLst/>
          </a:prstGeom>
        </p:spPr>
        <p:txBody>
          <a:bodyPr lIns="91440" tIns="45720" rIns="0" bIns="45720" anchor="b"/>
          <a:lstStyle>
            <a:lvl1pPr algn="r">
              <a:buClr>
                <a:srgbClr val="23A092"/>
              </a:buClr>
              <a:buFont typeface="Wingdings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631825" indent="-285750"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rgbClr val="23A092"/>
                </a:solidFill>
              </a:defRPr>
            </a:lvl2pPr>
            <a:lvl3pPr marL="900113" indent="-269875">
              <a:buClr>
                <a:srgbClr val="23A092"/>
              </a:buClr>
              <a:buSzPct val="70000"/>
              <a:buFont typeface="Wingdings" pitchFamily="2" charset="2"/>
              <a:buNone/>
              <a:defRPr sz="1600">
                <a:solidFill>
                  <a:srgbClr val="1C1C1C"/>
                </a:solidFill>
              </a:defRPr>
            </a:lvl3pPr>
            <a:lvl4pPr marL="1165225" indent="-268288">
              <a:buClr>
                <a:srgbClr val="23A092"/>
              </a:buClr>
              <a:buSzPct val="60000"/>
              <a:buFont typeface="Wingdings" pitchFamily="2" charset="2"/>
              <a:buNone/>
              <a:defRPr sz="1500">
                <a:solidFill>
                  <a:srgbClr val="23A092"/>
                </a:solidFill>
              </a:defRPr>
            </a:lvl4pPr>
            <a:lvl5pPr marL="1527175" indent="-268288">
              <a:buClr>
                <a:srgbClr val="23A092"/>
              </a:buClr>
              <a:buSzPct val="50000"/>
              <a:buFont typeface="Wingdings" pitchFamily="2" charset="2"/>
              <a:buNone/>
              <a:defRPr sz="1500">
                <a:solidFill>
                  <a:srgbClr val="1C1C1C"/>
                </a:solidFill>
              </a:defRPr>
            </a:lvl5pPr>
          </a:lstStyle>
          <a:p>
            <a:pPr lvl="0"/>
            <a:r>
              <a:rPr lang="de-DE" dirty="0"/>
              <a:t>Zwischenüberschrift</a:t>
            </a:r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80BB7F-5BF7-42B1-9AEF-6AC89BF92477}" type="datetime1">
              <a:rPr lang="de-DE" smtClean="0"/>
              <a:t>07.08.2026</a:t>
            </a:fld>
            <a:endParaRPr lang="de-DE" dirty="0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Ihr Name – bitte anpassen über „Einfügen“ / Kopf- und Fußzeile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: 2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5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D27EF17-2B2B-4FEC-8EC5-D78394CCC2F2}" type="datetime1">
              <a:rPr lang="de-DE" smtClean="0"/>
              <a:t>07.08.2026</a:t>
            </a:fld>
            <a:endParaRPr lang="de-DE" dirty="0"/>
          </a:p>
        </p:txBody>
      </p:sp>
      <p:cxnSp>
        <p:nvCxnSpPr>
          <p:cNvPr id="24" name="Gerade Verbindung 10"/>
          <p:cNvCxnSpPr/>
          <p:nvPr userDrawn="1"/>
        </p:nvCxnSpPr>
        <p:spPr>
          <a:xfrm>
            <a:off x="4290248" y="771525"/>
            <a:ext cx="0" cy="562080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Ihr Name – bitte anpassen über „Einfügen“ / Kopf- und Fußzeile</a:t>
            </a:r>
            <a:endParaRPr lang="de-DE" dirty="0"/>
          </a:p>
        </p:txBody>
      </p:sp>
      <p:sp>
        <p:nvSpPr>
          <p:cNvPr id="16" name="Inhaltsplatzhalter 2"/>
          <p:cNvSpPr>
            <a:spLocks noGrp="1"/>
          </p:cNvSpPr>
          <p:nvPr>
            <p:ph idx="1" hasCustomPrompt="1"/>
          </p:nvPr>
        </p:nvSpPr>
        <p:spPr>
          <a:xfrm>
            <a:off x="107950" y="800100"/>
            <a:ext cx="4188076" cy="5619850"/>
          </a:xfrm>
          <a:prstGeom prst="rect">
            <a:avLst/>
          </a:prstGeom>
        </p:spPr>
        <p:txBody>
          <a:bodyPr lIns="0" tIns="0" rIns="9000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12E850D-247C-48BD-B81F-4EE8600745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96026" y="800100"/>
            <a:ext cx="4182298" cy="5619850"/>
          </a:xfrm>
          <a:prstGeom prst="rect">
            <a:avLst/>
          </a:prstGeom>
        </p:spPr>
        <p:txBody>
          <a:bodyPr lIns="90000" tIns="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C875F3BE-7E40-4688-BACA-354E148228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538" y="6119587"/>
            <a:ext cx="4186488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BB7A347-AAD3-423D-BA5E-FD8003ABC3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8CC9227-81B8-4B4A-AF1A-4A6C0766EE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: 2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 Verbindung 8"/>
          <p:cNvCxnSpPr/>
          <p:nvPr userDrawn="1"/>
        </p:nvCxnSpPr>
        <p:spPr>
          <a:xfrm>
            <a:off x="138113" y="3581929"/>
            <a:ext cx="815980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4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110744-78DB-4CCD-A5E8-96EE1214D9B7}" type="datetime1">
              <a:rPr lang="de-DE" smtClean="0"/>
              <a:t>07.08.2026</a:t>
            </a:fld>
            <a:endParaRPr lang="de-DE" dirty="0"/>
          </a:p>
        </p:txBody>
      </p:sp>
      <p:sp>
        <p:nvSpPr>
          <p:cNvPr id="16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Ihr Name – bitte anpassen über „Einfügen“ / Kopf- und Fußzeile</a:t>
            </a:r>
            <a:endParaRPr lang="de-DE" dirty="0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6C4076AC-72B8-494B-9D40-242B5CD7C9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7950" y="800100"/>
            <a:ext cx="8351838" cy="2781828"/>
          </a:xfrm>
          <a:prstGeom prst="rect">
            <a:avLst/>
          </a:prstGeom>
        </p:spPr>
        <p:txBody>
          <a:bodyPr lIns="0" tIns="0" rIns="0" bIns="4680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D25495-5902-473F-B591-6E8DB1A07A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7950" y="3581929"/>
            <a:ext cx="8351838" cy="2781828"/>
          </a:xfrm>
          <a:prstGeom prst="rect">
            <a:avLst/>
          </a:prstGeom>
        </p:spPr>
        <p:txBody>
          <a:bodyPr lIns="0" tIns="4680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FD86FD6A-3595-4937-BD23-89D5A39037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538" y="6119587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1259F72-4DD5-4411-A834-7B18606DA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8735B2C8-9063-443E-9E4A-436DA7847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 Verbindung 10"/>
          <p:cNvCxnSpPr/>
          <p:nvPr userDrawn="1"/>
        </p:nvCxnSpPr>
        <p:spPr>
          <a:xfrm>
            <a:off x="4290248" y="771525"/>
            <a:ext cx="0" cy="562080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C29F121-C0AB-4DB3-BEE4-C25B75C4FBBF}" type="datetime1">
              <a:rPr lang="de-DE" smtClean="0"/>
              <a:t>07.08.2026</a:t>
            </a:fld>
            <a:endParaRPr lang="de-DE" dirty="0"/>
          </a:p>
        </p:txBody>
      </p:sp>
      <p:cxnSp>
        <p:nvCxnSpPr>
          <p:cNvPr id="23" name="Gerade Verbindung 8"/>
          <p:cNvCxnSpPr/>
          <p:nvPr userDrawn="1"/>
        </p:nvCxnSpPr>
        <p:spPr>
          <a:xfrm>
            <a:off x="138113" y="3581929"/>
            <a:ext cx="815980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Ihr Name – bitte anpassen über „Einfügen“ / Kopf- und Fußzeile</a:t>
            </a:r>
            <a:endParaRPr lang="de-DE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652CB310-A0F4-4552-A54B-83D5CCEDC7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7950" y="800100"/>
            <a:ext cx="4188076" cy="2781829"/>
          </a:xfrm>
          <a:prstGeom prst="rect">
            <a:avLst/>
          </a:prstGeom>
        </p:spPr>
        <p:txBody>
          <a:bodyPr lIns="0" tIns="0" rIns="9000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8369E87-075C-426D-AE0C-1E46037B454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7950" y="3581929"/>
            <a:ext cx="4188076" cy="2834746"/>
          </a:xfrm>
          <a:prstGeom prst="rect">
            <a:avLst/>
          </a:prstGeom>
        </p:spPr>
        <p:txBody>
          <a:bodyPr lIns="0" tIns="46800" rIns="9000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0994D254-9C4B-4DCA-971C-F5971314F5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6026" y="800100"/>
            <a:ext cx="4188076" cy="2781829"/>
          </a:xfrm>
          <a:prstGeom prst="rect">
            <a:avLst/>
          </a:prstGeom>
        </p:spPr>
        <p:txBody>
          <a:bodyPr lIns="90000" tIns="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C3758986-AC9C-4363-B8AE-541C2E5AADC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96026" y="3581929"/>
            <a:ext cx="4188076" cy="2834746"/>
          </a:xfrm>
          <a:prstGeom prst="rect">
            <a:avLst/>
          </a:prstGeom>
        </p:spPr>
        <p:txBody>
          <a:bodyPr lIns="90000" tIns="4680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8325FAEE-5F3A-4019-9431-8BC1A4A5F7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538" y="6119587"/>
            <a:ext cx="4188076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C91F9282-4004-4264-A997-EFC0DAEF7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78F3D2F-0192-420B-B0A2-58E083CBA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328613"/>
            <a:ext cx="8344800" cy="344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0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3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0A682CC-0F99-4099-8894-018C221C7E76}" type="datetime1">
              <a:rPr lang="de-DE" smtClean="0"/>
              <a:t>07.08.2026</a:t>
            </a:fld>
            <a:endParaRPr lang="de-DE" dirty="0"/>
          </a:p>
        </p:txBody>
      </p:sp>
      <p:sp>
        <p:nvSpPr>
          <p:cNvPr id="15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Ihr Name – bitte anpassen über „Einfügen“ / Kopf- und Fußzeile</a:t>
            </a:r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9F05F16-3A52-45BF-9CBC-542DC4822F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000" y="800100"/>
            <a:ext cx="8351788" cy="56198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 algn="l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6D1816B-1B41-4E61-BFDC-3EB1A71F1D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8" y="6119587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6488099D-5961-495C-87C1-6251B66F9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47E61A00-62C4-4E10-90FB-9D484BD695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92660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ACCB45B-DC4A-4746-B6DB-FAC2F18E5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8" y="6475414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0A28A88-E595-4778-A47C-03924397B47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238" y="135028"/>
            <a:ext cx="540000" cy="540000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122237" y="6516510"/>
            <a:ext cx="8892000" cy="1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122400" y="651944"/>
            <a:ext cx="8222400" cy="1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C563E-E41B-8C30-5068-0B8942945D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093075" y="6642100"/>
            <a:ext cx="101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Öffentlich /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35" r:id="rId2"/>
    <p:sldLayoutId id="2147483749" r:id="rId3"/>
    <p:sldLayoutId id="2147483746" r:id="rId4"/>
    <p:sldLayoutId id="2147483748" r:id="rId5"/>
    <p:sldLayoutId id="2147483747" r:id="rId6"/>
    <p:sldLayoutId id="2147483750" r:id="rId7"/>
    <p:sldLayoutId id="2147483751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3A092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-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+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42" userDrawn="1">
          <p15:clr>
            <a:srgbClr val="A4A3A4"/>
          </p15:clr>
        </p15:guide>
        <p15:guide id="4" orient="horz" pos="2273" userDrawn="1">
          <p15:clr>
            <a:srgbClr val="A4A3A4"/>
          </p15:clr>
        </p15:guide>
        <p15:guide id="6" orient="horz" pos="504" userDrawn="1">
          <p15:clr>
            <a:srgbClr val="A4A3A4"/>
          </p15:clr>
        </p15:guide>
        <p15:guide id="8" pos="2699" userDrawn="1">
          <p15:clr>
            <a:srgbClr val="A4A3A4"/>
          </p15:clr>
        </p15:guide>
        <p15:guide id="9" pos="5329" userDrawn="1">
          <p15:clr>
            <a:srgbClr val="A4A3A4"/>
          </p15:clr>
        </p15:guide>
        <p15:guide id="10" pos="5692" userDrawn="1">
          <p15:clr>
            <a:srgbClr val="A4A3A4"/>
          </p15:clr>
        </p15:guide>
        <p15:guide id="11" pos="6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EAC255B-5246-44BD-8046-9660027622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023" y="3829901"/>
            <a:ext cx="8321765" cy="1448115"/>
          </a:xfrm>
        </p:spPr>
        <p:txBody>
          <a:bodyPr/>
          <a:lstStyle/>
          <a:p>
            <a:br>
              <a:rPr lang="de-DE" sz="2800" noProof="0" dirty="0"/>
            </a:br>
            <a:r>
              <a:rPr lang="de-DE" sz="2800" noProof="0" dirty="0"/>
              <a:t>Theorie-Praxis Transfer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8E5752-D578-4AAA-AD96-510A2A0B98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222" y="5931888"/>
            <a:ext cx="8022566" cy="361920"/>
          </a:xfrm>
        </p:spPr>
        <p:txBody>
          <a:bodyPr/>
          <a:lstStyle/>
          <a:p>
            <a:r>
              <a:rPr lang="de-DE" noProof="0" dirty="0"/>
              <a:t>von Meshan Fernando</a:t>
            </a:r>
            <a:br>
              <a:rPr lang="de-DE" noProof="0" dirty="0"/>
            </a:br>
            <a:r>
              <a:rPr lang="de-DE" noProof="0" dirty="0"/>
              <a:t>Matrikelnummer: 617993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C501D19-7237-4DFE-94C0-3E6A0DED651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DE" noProof="0" dirty="0"/>
              <a:t>Erstgutachter: Dr. phil. Patrick Hedfeld</a:t>
            </a:r>
            <a:br>
              <a:rPr lang="de-DE" noProof="0" dirty="0"/>
            </a:br>
            <a:r>
              <a:rPr lang="de-DE" noProof="0" dirty="0"/>
              <a:t>Zweitgutachter: Prof. Dr. Dieter Litzinger</a:t>
            </a:r>
          </a:p>
        </p:txBody>
      </p:sp>
    </p:spTree>
    <p:extLst>
      <p:ext uri="{BB962C8B-B14F-4D97-AF65-F5344CB8AC3E}">
        <p14:creationId xmlns:p14="http://schemas.microsoft.com/office/powerpoint/2010/main" val="407990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noProof="0" smtClean="0"/>
              <a:pPr>
                <a:defRPr/>
              </a:pPr>
              <a:t>2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83722A70-79C5-4CD6-9DF2-113901699198}" type="datetime1">
              <a:rPr lang="de-DE" noProof="0" smtClean="0"/>
              <a:t>07.08.2026</a:t>
            </a:fld>
            <a:endParaRPr lang="de-DE" noProof="0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endParaRPr lang="de-DE" noProof="0" dirty="0">
              <a:solidFill>
                <a:srgbClr val="00998A"/>
              </a:solidFill>
            </a:endParaRPr>
          </a:p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endParaRPr lang="de-DE" noProof="0" dirty="0">
              <a:solidFill>
                <a:srgbClr val="00998A"/>
              </a:solidFill>
            </a:endParaRPr>
          </a:p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endParaRPr lang="de-DE" noProof="0" dirty="0">
              <a:solidFill>
                <a:srgbClr val="00998A"/>
              </a:solidFill>
            </a:endParaRPr>
          </a:p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r>
              <a:rPr lang="de-DE" noProof="0" dirty="0">
                <a:solidFill>
                  <a:srgbClr val="00998A"/>
                </a:solidFill>
              </a:rPr>
              <a:t>© FOM Hochschule für </a:t>
            </a:r>
            <a:r>
              <a:rPr lang="de-DE" noProof="0" dirty="0" err="1">
                <a:solidFill>
                  <a:srgbClr val="00998A"/>
                </a:solidFill>
              </a:rPr>
              <a:t>Oekonomie</a:t>
            </a:r>
            <a:r>
              <a:rPr lang="de-DE" noProof="0" dirty="0">
                <a:solidFill>
                  <a:srgbClr val="00998A"/>
                </a:solidFill>
              </a:rPr>
              <a:t> &amp; Management</a:t>
            </a:r>
          </a:p>
          <a:p>
            <a:pPr lvl="0">
              <a:spcBef>
                <a:spcPct val="20000"/>
              </a:spcBef>
              <a:spcAft>
                <a:spcPct val="0"/>
              </a:spcAft>
            </a:pPr>
            <a:r>
              <a:rPr lang="de-DE" sz="1700" noProof="0" dirty="0">
                <a:solidFill>
                  <a:srgbClr val="00998A"/>
                </a:solidFill>
              </a:rPr>
              <a:t>gemeinnützige Gesellschaft mbH (FOM), Leimkugelstraße 6, 45141 Essen</a:t>
            </a:r>
          </a:p>
          <a:p>
            <a:pPr lvl="0">
              <a:spcBef>
                <a:spcPct val="20000"/>
              </a:spcBef>
              <a:spcAft>
                <a:spcPct val="0"/>
              </a:spcAft>
            </a:pPr>
            <a:endParaRPr lang="de-DE" sz="1400" b="0" noProof="0" dirty="0">
              <a:solidFill>
                <a:srgbClr val="00998A"/>
              </a:solidFill>
            </a:endParaRPr>
          </a:p>
          <a:p>
            <a:r>
              <a:rPr lang="de-DE" sz="1400" b="0" noProof="0" dirty="0">
                <a:solidFill>
                  <a:schemeClr val="tx2"/>
                </a:solidFill>
              </a:rPr>
              <a:t>Dieses Werk ist urheberrechtlich geschützt und nur für den persönlichen Gebrauch im Rahmen der Veranstaltungen der FOM bestimmt.</a:t>
            </a:r>
          </a:p>
          <a:p>
            <a:r>
              <a:rPr lang="de-DE" sz="1400" b="0" noProof="0" dirty="0">
                <a:solidFill>
                  <a:schemeClr val="tx2"/>
                </a:solidFill>
              </a:rPr>
              <a:t>Die durch die Urheberschaft begründeten Rechte (u. a. Vervielfältigung, Verbreitung, Übersetzung, Nachdruck) bleiben dem Urheber vorbehalten.</a:t>
            </a:r>
          </a:p>
          <a:p>
            <a:r>
              <a:rPr lang="de-DE" sz="1400" b="0" noProof="0" dirty="0">
                <a:solidFill>
                  <a:schemeClr val="tx2"/>
                </a:solidFill>
              </a:rPr>
              <a:t>Das Werk oder Teile daraus dürfen nicht ohne schriftliche Genehmigung des Urhebers / der FOM reproduziert oder unter Verwendung elektronischer Systeme verarbeitet, vervielfältigt oder verbreitet werden. Dies schließt auch den Upload in soziale Medien oder andere digitale Plattformen ein.</a:t>
            </a:r>
          </a:p>
          <a:p>
            <a:endParaRPr lang="de-DE" noProof="0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noProof="0" dirty="0"/>
              <a:t>Copyright</a:t>
            </a:r>
          </a:p>
        </p:txBody>
      </p:sp>
    </p:spTree>
    <p:extLst>
      <p:ext uri="{BB962C8B-B14F-4D97-AF65-F5344CB8AC3E}">
        <p14:creationId xmlns:p14="http://schemas.microsoft.com/office/powerpoint/2010/main" val="154424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A3A57D9-08E7-4A35-820C-6C5F68307974}" type="slidenum">
              <a:rPr lang="de-DE" noProof="0" smtClean="0"/>
              <a:pPr>
                <a:defRPr/>
              </a:pPr>
              <a:t>3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88511F-0DED-4754-8AED-059212722EAC}" type="datetime1">
              <a:rPr lang="de-DE" noProof="0" smtClean="0"/>
              <a:t>07.08.2026</a:t>
            </a:fld>
            <a:endParaRPr lang="de-DE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de-DE" noProof="0" dirty="0"/>
          </a:p>
          <a:p>
            <a:pPr marL="717550" lvl="2"/>
            <a:endParaRPr lang="de-DE" noProof="0" dirty="0"/>
          </a:p>
        </p:txBody>
      </p:sp>
      <p:graphicFrame>
        <p:nvGraphicFramePr>
          <p:cNvPr id="9" name="Inhaltsplatzhalter 7">
            <a:extLst>
              <a:ext uri="{FF2B5EF4-FFF2-40B4-BE49-F238E27FC236}">
                <a16:creationId xmlns:a16="http://schemas.microsoft.com/office/drawing/2014/main" id="{0FBE01BC-15B9-4E0B-9E3B-1AF2B5D90C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8444929"/>
              </p:ext>
            </p:extLst>
          </p:nvPr>
        </p:nvGraphicFramePr>
        <p:xfrm>
          <a:off x="141276" y="1383557"/>
          <a:ext cx="6045967" cy="3680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264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de-DE" sz="1600" b="0" noProof="0" dirty="0">
                        <a:solidFill>
                          <a:schemeClr val="tx1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>
                          <a:solidFill>
                            <a:schemeClr val="tx1"/>
                          </a:solidFill>
                        </a:rPr>
                        <a:t>Über mich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264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/>
                        <a:t>2</a:t>
                      </a: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Motivation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30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DE" sz="1600" b="0" noProof="0" dirty="0"/>
                        <a:t>3</a:t>
                      </a: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de-DE" sz="1600" b="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Theorie ↔ Praxis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264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b="0" kern="1200" noProof="0" dirty="0"/>
                        <a:t>4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noProof="0" dirty="0"/>
                        <a:t>Kompetenzentwicklung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2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b="0" kern="12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Arial"/>
                        </a:rPr>
                        <a:t>5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noProof="0" dirty="0"/>
                        <a:t>Fazit &amp; Ausblick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29430"/>
                  </a:ext>
                </a:extLst>
              </a:tr>
            </a:tbl>
          </a:graphicData>
        </a:graphic>
      </p:graphicFrame>
      <p:sp>
        <p:nvSpPr>
          <p:cNvPr id="5" name="Textplatzhalter 6">
            <a:extLst>
              <a:ext uri="{FF2B5EF4-FFF2-40B4-BE49-F238E27FC236}">
                <a16:creationId xmlns:a16="http://schemas.microsoft.com/office/drawing/2014/main" id="{E3DBE2D1-E7FD-AA2C-54D1-64C63CC67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56" y="271231"/>
            <a:ext cx="8335120" cy="360064"/>
          </a:xfrm>
        </p:spPr>
        <p:txBody>
          <a:bodyPr/>
          <a:lstStyle/>
          <a:p>
            <a:r>
              <a:rPr lang="de-DE" noProof="0" dirty="0"/>
              <a:t>Gliederung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7B6C93-214D-05E4-C785-793E5064C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noProof="0" smtClean="0"/>
              <a:pPr>
                <a:defRPr/>
              </a:pPr>
              <a:t>4</a:t>
            </a:fld>
            <a:endParaRPr lang="de-D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C91E8-1B4E-4D8B-EC8E-6D885EAC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4B9FE-828D-F53B-6660-BFDFF5E7D1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5CC56EBC-D08B-471E-ACE4-D1109E130940}" type="datetime1">
              <a:rPr lang="de-DE" noProof="0" smtClean="0"/>
              <a:t>07.08.2026</a:t>
            </a:fld>
            <a:endParaRPr lang="de-DE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5015E0-60F1-28E1-E9C3-64DBA8AC4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" y="800100"/>
            <a:ext cx="6107529" cy="48835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Softwareentwickler bei </a:t>
            </a:r>
            <a:r>
              <a:rPr lang="de-DE" noProof="0" dirty="0" err="1"/>
              <a:t>Valantic</a:t>
            </a:r>
            <a:r>
              <a:rPr lang="de-DE" noProof="0" dirty="0"/>
              <a:t> STI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Seit 2016 in der Softwareentwicklung tätig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Berufsbegleitendes Studium der Wirtschaftsinformatik an der FOM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Schwerpunkt: Softwareentwicklung, digitale Informationssysteme und Kundenberatung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146D5C-0265-BCBE-363E-F70DFEDC7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noProof="0" dirty="0"/>
              <a:t>1. Über mich</a:t>
            </a:r>
          </a:p>
          <a:p>
            <a:endParaRPr lang="de-DE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F53ECF-7298-ACD5-9F41-34422BF2A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9" name="AutoShape 2" descr="A professional office scene where an employee is discussing a raise with their boss. The employee sits confidently on one side of the desk, making direct eye contact, while the boss listens attentively, leaning slightly forward. The desk has a laptop, notepad, and a cup of coffee, and the office features a modern design with large windows and bookshelves in the background. The atmosphere is respectful and formal, reflecting a productive negotiation.">
            <a:extLst>
              <a:ext uri="{FF2B5EF4-FFF2-40B4-BE49-F238E27FC236}">
                <a16:creationId xmlns:a16="http://schemas.microsoft.com/office/drawing/2014/main" id="{55803535-F79A-8FEB-0354-FE88301918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9887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496E2-62F9-0AEC-23DB-C6861A426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noProof="0" smtClean="0"/>
              <a:pPr>
                <a:defRPr/>
              </a:pPr>
              <a:t>5</a:t>
            </a:fld>
            <a:endParaRPr lang="de-D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0FF27-58EF-07AA-31D8-C74F6D51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4BF0A-EAF7-CC6F-D2A5-4EEB9C7C4CF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5CC56EBC-D08B-471E-ACE4-D1109E130940}" type="datetime1">
              <a:rPr lang="de-DE" noProof="0" smtClean="0"/>
              <a:t>07.08.2026</a:t>
            </a:fld>
            <a:endParaRPr lang="de-DE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3FBDEC-87C6-90B4-6810-2A7BF6B33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" y="800100"/>
            <a:ext cx="6111645" cy="56198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Persönliche Herausforderung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Fachliche Weiterentwicklung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Theorie und Praxis miteinander verbinden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Neue Denkweisen kennenlernen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Langfristige berufliche Perspektiven erweitern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B21166-93AF-F9F6-CF40-CD2AF237EC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noProof="0" dirty="0"/>
              <a:t>2. Motivation</a:t>
            </a:r>
          </a:p>
        </p:txBody>
      </p:sp>
    </p:spTree>
    <p:extLst>
      <p:ext uri="{BB962C8B-B14F-4D97-AF65-F5344CB8AC3E}">
        <p14:creationId xmlns:p14="http://schemas.microsoft.com/office/powerpoint/2010/main" val="67692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AF96E9-5E84-1668-68A5-D97443735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2A3A57D9-08E7-4A35-820C-6C5F68307974}" type="slidenum">
              <a:rPr lang="de-DE" noProof="0" smtClean="0"/>
              <a:pPr>
                <a:spcAft>
                  <a:spcPts val="600"/>
                </a:spcAft>
                <a:defRPr/>
              </a:pPr>
              <a:t>6</a:t>
            </a:fld>
            <a:endParaRPr lang="de-DE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DF7F0-F4A7-EE55-D979-2E047A41DD0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5CC56EBC-D08B-471E-ACE4-D1109E130940}" type="datetime1">
              <a:rPr lang="de-DE" noProof="0" smtClean="0"/>
              <a:pPr>
                <a:spcAft>
                  <a:spcPts val="600"/>
                </a:spcAft>
                <a:defRPr/>
              </a:pPr>
              <a:t>07.08.2026</a:t>
            </a:fld>
            <a:endParaRPr lang="de-D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BDC72-FA96-8144-4FD6-F4E54915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EDA7565-FBEC-32D2-2046-6DB37CAEE2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9538" y="6119587"/>
            <a:ext cx="8350250" cy="296862"/>
          </a:xfrm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EBC585-E3B8-9C1D-23B3-3FD7CC26B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56" y="292660"/>
            <a:ext cx="8335120" cy="3600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1900" noProof="0" dirty="0"/>
              <a:t>3</a:t>
            </a:r>
            <a:r>
              <a:rPr lang="de-DE" sz="1900" b="1" noProof="0" dirty="0"/>
              <a:t>. </a:t>
            </a:r>
            <a:r>
              <a:rPr lang="de-DE" sz="1900" noProof="0" dirty="0"/>
              <a:t>Theorie ↔ Praxis</a:t>
            </a:r>
          </a:p>
          <a:p>
            <a:pPr>
              <a:lnSpc>
                <a:spcPct val="90000"/>
              </a:lnSpc>
            </a:pPr>
            <a:endParaRPr lang="de-DE" sz="1900" b="1" noProof="0" dirty="0"/>
          </a:p>
          <a:p>
            <a:pPr>
              <a:lnSpc>
                <a:spcPct val="90000"/>
              </a:lnSpc>
            </a:pPr>
            <a:endParaRPr lang="de-DE" sz="1900" noProof="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64BF95D-6752-4F09-CB7C-2D3F9E15B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141802"/>
              </p:ext>
            </p:extLst>
          </p:nvPr>
        </p:nvGraphicFramePr>
        <p:xfrm>
          <a:off x="108000" y="1440506"/>
          <a:ext cx="8351788" cy="4339042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933235">
                  <a:extLst>
                    <a:ext uri="{9D8B030D-6E8A-4147-A177-3AD203B41FA5}">
                      <a16:colId xmlns:a16="http://schemas.microsoft.com/office/drawing/2014/main" val="1060487859"/>
                    </a:ext>
                  </a:extLst>
                </a:gridCol>
                <a:gridCol w="4418553">
                  <a:extLst>
                    <a:ext uri="{9D8B030D-6E8A-4147-A177-3AD203B41FA5}">
                      <a16:colId xmlns:a16="http://schemas.microsoft.com/office/drawing/2014/main" val="3591859748"/>
                    </a:ext>
                  </a:extLst>
                </a:gridCol>
              </a:tblGrid>
              <a:tr h="668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Studium</a:t>
                      </a:r>
                    </a:p>
                  </a:txBody>
                  <a:tcPr marL="183539" marR="141183" marT="141183" marB="1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Praxis</a:t>
                      </a:r>
                    </a:p>
                  </a:txBody>
                  <a:tcPr marL="183539" marR="141183" marT="141183" marB="141183" anchor="ctr"/>
                </a:tc>
                <a:extLst>
                  <a:ext uri="{0D108BD9-81ED-4DB2-BD59-A6C34878D82A}">
                    <a16:rowId xmlns:a16="http://schemas.microsoft.com/office/drawing/2014/main" val="1883430118"/>
                  </a:ext>
                </a:extLst>
              </a:tr>
              <a:tr h="668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Software Engineering</a:t>
                      </a:r>
                    </a:p>
                  </a:txBody>
                  <a:tcPr marL="183539" marR="141183" marT="141183" marB="1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Softwareentwicklung</a:t>
                      </a:r>
                    </a:p>
                  </a:txBody>
                  <a:tcPr marL="183539" marR="141183" marT="141183" marB="141183" anchor="ctr"/>
                </a:tc>
                <a:extLst>
                  <a:ext uri="{0D108BD9-81ED-4DB2-BD59-A6C34878D82A}">
                    <a16:rowId xmlns:a16="http://schemas.microsoft.com/office/drawing/2014/main" val="4238383225"/>
                  </a:ext>
                </a:extLst>
              </a:tr>
              <a:tr h="668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Datenbanken</a:t>
                      </a:r>
                    </a:p>
                  </a:txBody>
                  <a:tcPr marL="183539" marR="141183" marT="141183" marB="1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SQL und Datenbankentwicklung</a:t>
                      </a:r>
                    </a:p>
                  </a:txBody>
                  <a:tcPr marL="183539" marR="141183" marT="141183" marB="141183" anchor="ctr"/>
                </a:tc>
                <a:extLst>
                  <a:ext uri="{0D108BD9-81ED-4DB2-BD59-A6C34878D82A}">
                    <a16:rowId xmlns:a16="http://schemas.microsoft.com/office/drawing/2014/main" val="1493729074"/>
                  </a:ext>
                </a:extLst>
              </a:tr>
              <a:tr h="668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Projektmanagement</a:t>
                      </a:r>
                    </a:p>
                  </a:txBody>
                  <a:tcPr marL="183539" marR="141183" marT="141183" marB="1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Entwicklungsprojekte</a:t>
                      </a:r>
                    </a:p>
                  </a:txBody>
                  <a:tcPr marL="183539" marR="141183" marT="141183" marB="141183" anchor="ctr"/>
                </a:tc>
                <a:extLst>
                  <a:ext uri="{0D108BD9-81ED-4DB2-BD59-A6C34878D82A}">
                    <a16:rowId xmlns:a16="http://schemas.microsoft.com/office/drawing/2014/main" val="2520446094"/>
                  </a:ext>
                </a:extLst>
              </a:tr>
              <a:tr h="99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Wissenschaftliches Arbeiten</a:t>
                      </a:r>
                    </a:p>
                  </a:txBody>
                  <a:tcPr marL="183539" marR="141183" marT="141183" marB="1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Bachelorarbeit und strukturierte Problemlösung</a:t>
                      </a:r>
                    </a:p>
                  </a:txBody>
                  <a:tcPr marL="183539" marR="141183" marT="141183" marB="141183" anchor="ctr"/>
                </a:tc>
                <a:extLst>
                  <a:ext uri="{0D108BD9-81ED-4DB2-BD59-A6C34878D82A}">
                    <a16:rowId xmlns:a16="http://schemas.microsoft.com/office/drawing/2014/main" val="2574421896"/>
                  </a:ext>
                </a:extLst>
              </a:tr>
              <a:tr h="668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KI und Informationssysteme</a:t>
                      </a:r>
                    </a:p>
                  </a:txBody>
                  <a:tcPr marL="183539" marR="141183" marT="141183" marB="1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cap="none" spc="0" noProof="0" dirty="0">
                          <a:solidFill>
                            <a:schemeClr val="bg1"/>
                          </a:solidFill>
                        </a:rPr>
                        <a:t>Aktuelle KI-Projekte</a:t>
                      </a:r>
                    </a:p>
                  </a:txBody>
                  <a:tcPr marL="183539" marR="141183" marT="141183" marB="141183" anchor="ctr"/>
                </a:tc>
                <a:extLst>
                  <a:ext uri="{0D108BD9-81ED-4DB2-BD59-A6C34878D82A}">
                    <a16:rowId xmlns:a16="http://schemas.microsoft.com/office/drawing/2014/main" val="2888058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32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5525-F8B6-88C7-3C0A-C1E73C86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48AE72-363A-DAA2-491B-2B13B0BFA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noProof="0" smtClean="0"/>
              <a:pPr>
                <a:defRPr/>
              </a:pPr>
              <a:t>7</a:t>
            </a:fld>
            <a:endParaRPr lang="de-D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05FB74-824E-809B-4364-3B400968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A14C9-ED92-2B06-4261-E035902B2F7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5CC56EBC-D08B-471E-ACE4-D1109E130940}" type="datetime1">
              <a:rPr lang="de-DE" noProof="0" smtClean="0"/>
              <a:t>07.08.2026</a:t>
            </a:fld>
            <a:endParaRPr lang="de-DE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AAD3FA-8908-EC2B-A16C-04A1C4898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b="1" noProof="0" dirty="0"/>
              <a:t>Fachliche Kompetenzen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Softwareentwicklung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Datenbanken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Wissenschaftliches Arbeiten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Recherche</a:t>
            </a:r>
          </a:p>
          <a:p>
            <a:pPr>
              <a:buNone/>
            </a:pPr>
            <a:r>
              <a:rPr lang="de-DE" b="1" noProof="0" dirty="0"/>
              <a:t>Methodische Kompetenzen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Analytisches Denken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Strukturierte Problemlösung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Projektarbeit </a:t>
            </a:r>
          </a:p>
          <a:p>
            <a:pPr>
              <a:buNone/>
            </a:pPr>
            <a:r>
              <a:rPr lang="de-DE" b="1" noProof="0" dirty="0"/>
              <a:t>Persönliche Kompetenzen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noProof="0" dirty="0"/>
              <a:t>Durchhaltevermögen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noProof="0" dirty="0"/>
              <a:t>Selbstorganisation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noProof="0" dirty="0"/>
              <a:t>Zeitmanagement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noProof="0" dirty="0"/>
              <a:t>Eigenständiges Lernen</a:t>
            </a:r>
          </a:p>
          <a:p>
            <a:endParaRPr lang="de-D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60E5DB-7B99-A1E2-4062-76DBB27BE9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noProof="0" dirty="0"/>
              <a:t>4. </a:t>
            </a:r>
            <a:r>
              <a:rPr lang="de-DE" noProof="0" dirty="0"/>
              <a:t>Kompetenzentwicklung</a:t>
            </a:r>
            <a:endParaRPr lang="de-DE" b="1" noProof="0" dirty="0"/>
          </a:p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0362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E7C97-DB44-EFA8-4C3B-95DB12F3F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noProof="0" smtClean="0"/>
              <a:pPr>
                <a:defRPr/>
              </a:pPr>
              <a:t>8</a:t>
            </a:fld>
            <a:endParaRPr lang="de-D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4C6EE-E064-272C-E1A7-58CE99CB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noProof="0" dirty="0"/>
              <a:t>Meshan Fernando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DF65-D30C-4A05-9994-65BE48A0585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5CC56EBC-D08B-471E-ACE4-D1109E130940}" type="datetime1">
              <a:rPr lang="de-DE" noProof="0" smtClean="0"/>
              <a:t>07.08.2026</a:t>
            </a:fld>
            <a:endParaRPr lang="de-DE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C7266D-80CB-172C-6A7A-C1922F3E9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" y="800100"/>
            <a:ext cx="5887358" cy="5619850"/>
          </a:xfrm>
        </p:spPr>
        <p:txBody>
          <a:bodyPr/>
          <a:lstStyle/>
          <a:p>
            <a:r>
              <a:rPr lang="de-DE" noProof="0" dirty="0"/>
              <a:t>Mein persönliches Fazit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Theorie und Praxis ergänzen sich gegenseitig.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Das Studium hat meine fachlichen und persönlichen Kompetenzen erweitert.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Besonders Interesse an KI und digitalen Informationssystemen entwickelt.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Langfristiges Ziel: </a:t>
            </a:r>
          </a:p>
          <a:p>
            <a:pPr marL="557213" lvl="2" indent="-285750">
              <a:buFont typeface="Arial" panose="020B0604020202020204" pitchFamily="34" charset="0"/>
              <a:buChar char="•"/>
            </a:pPr>
            <a:r>
              <a:rPr lang="de-DE" noProof="0" dirty="0"/>
              <a:t>KI </a:t>
            </a:r>
          </a:p>
          <a:p>
            <a:pPr marL="557213" lvl="2" indent="-285750">
              <a:buFont typeface="Arial" panose="020B0604020202020204" pitchFamily="34" charset="0"/>
              <a:buChar char="•"/>
            </a:pPr>
            <a:r>
              <a:rPr lang="de-DE" noProof="0" dirty="0"/>
              <a:t>Automatisierung </a:t>
            </a:r>
          </a:p>
          <a:p>
            <a:pPr marL="557213" lvl="2" indent="-285750">
              <a:buFont typeface="Arial" panose="020B0604020202020204" pitchFamily="34" charset="0"/>
              <a:buChar char="•"/>
            </a:pPr>
            <a:r>
              <a:rPr lang="de-DE" noProof="0" dirty="0"/>
              <a:t>eigenes Unternehmen</a:t>
            </a:r>
          </a:p>
          <a:p>
            <a:endParaRPr lang="de-D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C71BB5-6027-4E78-C78E-7907B88DE0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noProof="0" dirty="0"/>
              <a:t>5. </a:t>
            </a:r>
            <a:r>
              <a:rPr lang="de-DE" noProof="0" dirty="0"/>
              <a:t>Fazit &amp; Ausblick</a:t>
            </a:r>
            <a:endParaRPr lang="de-DE" b="1" noProof="0" dirty="0"/>
          </a:p>
        </p:txBody>
      </p:sp>
    </p:spTree>
    <p:extLst>
      <p:ext uri="{BB962C8B-B14F-4D97-AF65-F5344CB8AC3E}">
        <p14:creationId xmlns:p14="http://schemas.microsoft.com/office/powerpoint/2010/main" val="283291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0E832A-BE13-523F-B517-F934BD7D95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9010" y="0"/>
            <a:ext cx="9273396" cy="6858000"/>
          </a:xfrm>
          <a:prstGeom prst="rect">
            <a:avLst/>
          </a:prstGeom>
        </p:spPr>
      </p:pic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B8975E84-A7E4-FFB8-F89C-0C9F9BA8115C}"/>
              </a:ext>
            </a:extLst>
          </p:cNvPr>
          <p:cNvSpPr txBox="1">
            <a:spLocks/>
          </p:cNvSpPr>
          <p:nvPr/>
        </p:nvSpPr>
        <p:spPr>
          <a:xfrm>
            <a:off x="258717" y="2856235"/>
            <a:ext cx="8321765" cy="1448115"/>
          </a:xfr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23A092"/>
              </a:buClr>
              <a:buNone/>
            </a:pPr>
            <a:r>
              <a:rPr lang="de-DE" sz="3200" b="1" noProof="0" dirty="0">
                <a:solidFill>
                  <a:srgbClr val="00998A"/>
                </a:solidFill>
              </a:rPr>
              <a:t>Vielen Dank für Ihre Aufmerksamkeit!</a:t>
            </a:r>
          </a:p>
          <a:p>
            <a:pPr algn="ctr">
              <a:buClr>
                <a:srgbClr val="23A092"/>
              </a:buClr>
              <a:buNone/>
            </a:pPr>
            <a:r>
              <a:rPr lang="de-DE" sz="3200" b="1" noProof="0" dirty="0">
                <a:solidFill>
                  <a:srgbClr val="00998A"/>
                </a:solidFill>
              </a:rPr>
              <a:t>Haben Sie noch Fragen?</a:t>
            </a:r>
          </a:p>
        </p:txBody>
      </p:sp>
      <p:sp>
        <p:nvSpPr>
          <p:cNvPr id="6" name="AutoShape 2" descr="A professional and modern image symbolizing successful business negotiations and agreements. The scene features two people in business attire shaking hands in a bright, modern office setting. The background is minimalistic with clean lines and soft blue and white tones, conveying professionalism and clarity. Subtle details like a negotiation table, documents, and a laptop are visible, emphasizing a formal business environment. The atmosphere is positive and collaborative, reflecting mutual agreement and successful communication.">
            <a:extLst>
              <a:ext uri="{FF2B5EF4-FFF2-40B4-BE49-F238E27FC236}">
                <a16:creationId xmlns:a16="http://schemas.microsoft.com/office/drawing/2014/main" id="{FE338B33-2AC4-123E-8490-F4962DCDAC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117683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EE4P_AGENDAWIZARD" val="&lt;ee4p&gt;&lt;layouts&gt;&lt;layout name=&quot;Line&quot; id=&quot;1_2&quot;&gt;&lt;standard&gt;&lt;textframe horizontalAnchor=&quot;1&quot; marginBottom=&quot;6&quot; marginLeft=&quot;0&quot; marginRight=&quot;0&quot; marginTop=&quot;6&quot; orientation=&quot;1&quot; verticalAnchor=&quot;1&quot; /&gt;&lt;font name=&quot;Arial&quot; bold=&quot;0&quot; italic=&quot;0&quot; color=&quot;13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fontSize=&quot;16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25.000001&quot; /&gt;&lt;column field=&quot;topic&quot; label=&quot;Topic&quot; leftSpacing=&quot;5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31.12504&quot; top=&quot;133.875&quot; width=&quot;657.75&quot; height=&quot;351.625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.5|11|12|14|16|18&quot; allowedTimeFormatIds=&quot;1|2|3&quot; slideLayout=&quot;11&quot; customLayoutName=&quot;Nur Titel|Title Only&quot; customLayoutIndex=&quot;&quot; showBreak=&quot;1&quot; singleAgendaSlideSelected=&quot;0&quot; backupSlideTitle=&quot;Backup: %agendaName%&quot; topMargin=&quot;0&quot; leftMargin=&quot;0&quot; allowedLevels=&quot;4&quot; itemNoFormats=&quot;{1}¦{1}.{2}¦{3:alphaLC}¦{3:alphaLC}.{4:alphaLC}&quot; /&gt;&lt;!-- Agenda item formats --&gt;&lt;cases&gt;&lt;case level=&quot;1&quot; selected=&quot;0&quot; break=&quot;0&quot; topMinSpacing=&quot;5&quot; topMaxSpacing=&quot;5&quot; bottomMinSpacing=&quot;0&quot; bottomMaxSpacing=&quot;0&quot;&gt;&lt;element field=&quot;itemno&quot; type=&quot;autoshape&quot; autoShapeType=&quot;1&quot;&gt;&lt;textframe marginLeft=&quot;6&quot; marginRight=&quot;0&quot; /&gt;&lt;paragraphformat alignment=&quot;1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5&quot; topMaxSpacing=&quot;5&quot; bottomMinSpacing=&quot;0&quot; bottomMaxSpacing=&quot;0&quot;&gt;&lt;element type=&quot;line&quot; value=&quot;&quot;&gt;&lt;position left=&quot;0&quot; top=&quot;itemHeight&quot; width=&quot;agendaWidth&quot; height=&quot;0&quot; /&gt;&lt;line style=&quot;1&quot; dashStyle=&quot;1&quot; foreColor=&quot;5&quot; transparency=&quot;0&quot; visible=&quot;1&quot; weight=&quot;0.75&quot; /&gt;&lt;/element&gt;&lt;element type=&quot;line&quot; value=&quot;&quot;&gt;&lt;position left=&quot;0&quot; top=&quot;0&quot; width=&quot;agendaWidth&quot; height=&quot;0&quot; /&gt;&lt;line style=&quot;1&quot; dashStyle=&quot;1&quot; foreColor=&quot;5&quot; transparency=&quot;0&quot; visible=&quot;1&quot; weight=&quot;0.75&quot; /&gt;&lt;/element&gt;&lt;element field=&quot;itemno&quot; type=&quot;autoshape&quot; autoShapeType=&quot;1&quot;&gt;&lt;textframe marginLeft=&quot;6&quot; marginRight=&quot;0&quot; /&gt;&lt;paragraphformat alignment=&quot;1&quot; /&gt;&lt;font color=&quot;5&quot; /&gt;&lt;/element&gt;&lt;element field=&quot;topic&quot; type=&quot;autoshape&quot; autoShapeType=&quot;1&quot;&gt;&lt;paragraphformat alignment=&quot;1&quot; /&gt;&lt;font color=&quot;5&quot; /&gt;&lt;textframe marginLeft=&quot;0&quot; /&gt;&lt;/element&gt;&lt;element field=&quot;responsible&quot; type=&quot;autoshape&quot; autoShapeType=&quot;1&quot;&gt;&lt;paragraphformat alignment=&quot;1&quot; /&gt;&lt;font color=&quot;5&quot; /&gt;&lt;/element&gt;&lt;element field=&quot;freecolumn&quot; type=&quot;autoshape&quot; autoShapeType=&quot;1&quot;&gt;&lt;paragraphformat alignment=&quot;1&quot; /&gt;&lt;font color=&quot;5&quot; /&gt;&lt;/element&gt;&lt;element field=&quot;timeslot&quot; type=&quot;autoshape&quot; autoShapeType=&quot;1&quot;&gt;&lt;paragraphformat alignment=&quot;1&quot; /&gt;&lt;font color=&quot;5&quot; /&gt;&lt;/element&gt;&lt;element field=&quot;pageno&quot; type=&quot;autoshape&quot; autoShapeType=&quot;1&quot;&gt;&lt;paragraphformat alignment=&quot;3&quot; /&gt;&lt;font color=&quot;5&quot; /&gt;&lt;/element&gt;&lt;/case&gt;&lt;case level=&quot;2&quot; selected=&quot;0&quot; break=&quot;0&quot; topMinSpacing=&quot;5&quot; topMaxSpacing=&quot;5&quot; bottomMinSpacing=&quot;0&quot; bottomMaxSpacing=&quot;0&quot;&gt;&lt;element field=&quot;itemno&quot; type=&quot;autoshape&quot; autoShapeType=&quot;1&quot; indent=&quot;(level-1)*(itemSingleHeight*25/31.50472+topicLeftSpacing) &quot; indentType=&quot;1&quot;&gt;&lt;textframe marginLeft=&quot;0&quot; marginRight=&quot;0&quot; /&gt;&lt;paragraphformat alignment=&quot;1&quot; /&gt;&lt;/element&gt;&lt;element field=&quot;topic&quot; type=&quot;autoshape&quot; autoShapeType=&quot;1&quot; indent=&quot;(level-1)*(itemSingleHeight*25/31.50472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5&quot; topMaxSpacing=&quot;5&quot; bottomMinSpacing=&quot;0&quot; bottomMaxSpacing=&quot;0&quot;&gt;&lt;element type=&quot;line&quot; value=&quot;&quot;&gt;&lt;position left=&quot;0&quot; top=&quot;itemHeight&quot; width=&quot;agendaWidth&quot; height=&quot;0&quot; /&gt;&lt;line style=&quot;1&quot; dashStyle=&quot;1&quot; foreColor=&quot;5&quot; transparency=&quot;0&quot; visible=&quot;1&quot; weight=&quot;0.75&quot; /&gt;&lt;/element&gt;&lt;element type=&quot;line&quot; value=&quot;&quot;&gt;&lt;position left=&quot;0&quot; top=&quot;0&quot; width=&quot;agendaWidth&quot; height=&quot;0&quot; /&gt;&lt;line style=&quot;1&quot; dashStyle=&quot;1&quot; foreColor=&quot;5&quot; transparency=&quot;0&quot; visible=&quot;1&quot; weight=&quot;0.75&quot; /&gt;&lt;/element&gt;&lt;element field=&quot;itemno&quot; type=&quot;autoshape&quot; autoShapeType=&quot;1&quot; indent=&quot;(level-1)*(itemSingleHeight*25/31.50472+topicLeftSpacing) &quot; indentType=&quot;1&quot;&gt;&lt;textframe marginLeft=&quot;0&quot; marginRight=&quot;0&quot; /&gt;&lt;paragraphformat alignment=&quot;1&quot; /&gt;&lt;font color=&quot;5&quot; /&gt;&lt;/element&gt;&lt;element field=&quot;topic&quot; type=&quot;autoshape&quot; autoShapeType=&quot;1&quot; indent=&quot;(level-1)*(itemSingleHeight*25/31.50472+topicLeftSpacing) &quot; indentType=&quot;2&quot;&gt;&lt;paragraphformat alignment=&quot;1&quot; /&gt;&lt;font color=&quot;5&quot; /&gt;&lt;textframe marginLeft=&quot;0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font color=&quot;5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font color=&quot;5&quot; /&gt;&lt;/element&gt;&lt;element field=&quot;timeslot&quot; type=&quot;autoshape&quot; autoShapeType=&quot;1&quot;&gt;&lt;paragraphformat alignment=&quot;1&quot; /&gt;&lt;font color=&quot;5&quot; /&gt;&lt;/element&gt;&lt;element field=&quot;pageno&quot; type=&quot;autoshape&quot; autoShapeType=&quot;1&quot;&gt;&lt;paragraphformat alignment=&quot;3&quot; /&gt;&lt;font color=&quot;5&quot; /&gt;&lt;/element&gt;&lt;/case&gt;&lt;case level=&quot;1&quot; selected=&quot;0&quot; break=&quot;1&quot; topMinSpacing=&quot;5&quot; topMaxSpacing=&quot;5&quot; bottomMinSpacing=&quot;0&quot; bottomMaxSpacing=&quot;0&quot;&gt;&lt;element field=&quot;topic&quot; type=&quot;autoshape&quot; autoShapeType=&quot;1&quot; indent=&quot;(level-1)*(itemSingleHeight*25/31.50472+topicLeftSpacing) &quot; indentType=&quot;2&quot;&gt;&lt;paragraphformat alignment=&quot;1&quot; /&gt;&lt;font italic=&quot;1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font italic=&quot;1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5&quot; topMaxSpacing=&quot;5&quot; bottomMinSpacing=&quot;0&quot; bottomMaxSpacing=&quot;0&quot;&gt;&lt;element type=&quot;line&quot; value=&quot;&quot;&gt;&lt;position left=&quot;0&quot; top=&quot;itemHeight&quot; width=&quot;agendaWidth&quot; height=&quot;0&quot; /&gt;&lt;line style=&quot;1&quot; dashStyle=&quot;1&quot; foreColor=&quot;5&quot; transparency=&quot;0&quot; visible=&quot;1&quot; weight=&quot;0.75&quot; /&gt;&lt;/element&gt;&lt;element type=&quot;line&quot; value=&quot;&quot;&gt;&lt;position left=&quot;0&quot; top=&quot;0&quot; width=&quot;agendaWidth&quot; height=&quot;0&quot; /&gt;&lt;line style=&quot;1&quot; dashStyle=&quot;1&quot; foreColor=&quot;5&quot; transparency=&quot;0&quot; visible=&quot;1&quot; weight=&quot;0.75&quot; /&gt;&lt;/element&gt;&lt;element field=&quot;topic&quot; type=&quot;autoshape&quot; autoShapeType=&quot;1&quot; indent=&quot;(level-1)*(itemSingleHeight*25/31.50472+topicLeftSpacing) &quot; indentType=&quot;2&quot;&gt;&lt;paragraphformat alignment=&quot;1&quot; /&gt;&lt;font color=&quot;5&quot; italic=&quot;1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font color=&quot;5&quot; italic=&quot;1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font color=&quot;5&quot; italic=&quot;1&quot; /&gt;&lt;/element&gt;&lt;element field=&quot;timeslot&quot; type=&quot;autoshape&quot; autoShapeType=&quot;1&quot;&gt;&lt;paragraphformat alignment=&quot;1&quot; /&gt;&lt;font color=&quot;5&quot; italic=&quot;1&quot; /&gt;&lt;/element&gt;&lt;element field=&quot;pageno&quot; type=&quot;autoshape&quot; autoShapeType=&quot;1&quot;&gt;&lt;paragraphformat alignment=&quot;3&quot; /&gt;&lt;font color=&quot;5&quot; italic=&quot;1&quot; /&gt;&lt;/element&gt;&lt;/case&gt;&lt;/cases&gt;&lt;!-- Elements on slide independent of items --&gt;&lt;elements&gt;&lt;!--&#10;        &lt;element type=&quot;textbox&quot; zOrder=&quot;1&quot; value=&quot;test&quot;&gt;&#10;          &lt;position left=&quot;0&quot; top=&quot;0&quot; width=&quot;30&quot; height=&quot;30&quot;/&gt;&#10;        &lt;/element&gt;&#10;      --&gt;&lt;/elements&gt;&lt;/layout&gt;&lt;/layouts&gt;&lt;contents&gt;&lt;agenda name=&quot;New Agenda&quot; title=&quot;Agenda&quot; subtitle=&quot;&quot; sizingModeId=&quot;2&quot; fontSize=&quot;16&quot; fontSizeAuto=&quot;1&quot; startTime=&quot;540&quot; timeFormatId=&quot;1&quot; startItemNo=&quot;1&quot; createSingleAgendaSlide=&quot;1&quot; createSeparatingSlides=&quot;1&quot; createBackupSlide=&quot;0&quot; layoutId=&quot;1_2&quot; createSections=&quot;0&quot; singleSlideId=&quot;51f7ba3d-68d6-4fc8-8b40-294cb43c9432&quot;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&quot; rightDistribute=&quot;1&quot; dock=&quot;1&quot; rightSpacing=&quot;618.7883&quot; /&gt;&lt;column field=&quot;responsible&quot; label=&quot;Responsible&quot; visible=&quot;1&quot; checked=&quot;0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0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cd681a9-5cfe-40c0-9de0-af19ddfc5301&quot; parentId=&quot;&quot; level=&quot;1&quot; generateAgendaSlide=&quot;1&quot; showAgendaItem=&quot;1&quot; isBreak=&quot;0&quot; topic=&quot;1&quot; agendaSlideId=&quot;4255c1f9-415e-427c-82ad-d4ddc27866ef&quot; /&gt;&lt;item duration=&quot;30&quot; id=&quot;b3db0675-cd81-4fe7-a6d9-897357be3466&quot; parentId=&quot;&quot; level=&quot;1&quot; generateAgendaSlide=&quot;1&quot; showAgendaItem=&quot;1&quot; isBreak=&quot;0&quot; topic=&quot;2&quot; agendaSlideId=&quot;eb1224cd-48a4-4f3e-84f9-0dfb9ba5a6a5&quot; /&gt;&lt;item duration=&quot;30&quot; id=&quot;be116e7f-d8ea-4e2f-a4cf-ba62f3ccfc77&quot; parentId=&quot;&quot; level=&quot;1&quot; generateAgendaSlide=&quot;1&quot; showAgendaItem=&quot;1&quot; isBreak=&quot;0&quot; topic=&quot;3&quot; agendaSlideId=&quot;cae28622-a96d-46b6-ba3f-3d6645c10d7c&quot; /&gt;&lt;/items&gt;&lt;/agenda&gt;&lt;/contents&gt;&lt;/ee4p&gt;"/>
</p:tagLst>
</file>

<file path=ppt/theme/theme1.xml><?xml version="1.0" encoding="utf-8"?>
<a:theme xmlns:a="http://schemas.openxmlformats.org/drawingml/2006/main" name="PPT-Vorlage_der_FOM_20170109">
  <a:themeElements>
    <a:clrScheme name="FOM_neu">
      <a:dk1>
        <a:srgbClr val="262626"/>
      </a:dk1>
      <a:lt1>
        <a:sysClr val="window" lastClr="FFFFFF"/>
      </a:lt1>
      <a:dk2>
        <a:srgbClr val="717D87"/>
      </a:dk2>
      <a:lt2>
        <a:srgbClr val="DBDEE1"/>
      </a:lt2>
      <a:accent1>
        <a:srgbClr val="00998A"/>
      </a:accent1>
      <a:accent2>
        <a:srgbClr val="BFE5E2"/>
      </a:accent2>
      <a:accent3>
        <a:srgbClr val="A10010"/>
      </a:accent3>
      <a:accent4>
        <a:srgbClr val="E7C2C3"/>
      </a:accent4>
      <a:accent5>
        <a:srgbClr val="00A7E4"/>
      </a:accent5>
      <a:accent6>
        <a:srgbClr val="FF9700"/>
      </a:accent6>
      <a:hlink>
        <a:srgbClr val="00998A"/>
      </a:hlink>
      <a:folHlink>
        <a:srgbClr val="00998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2700">
          <a:noFill/>
        </a:ln>
        <a:effectLst/>
      </a:spPr>
      <a:bodyPr vert="horz" wrap="square" lIns="0" tIns="36000" rIns="0" bIns="3600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rgbClr val="23A092"/>
          </a:buClr>
          <a:buSzPct val="80000"/>
          <a:buFont typeface="Wingdings" pitchFamily="2" charset="2"/>
          <a:buNone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</a:defRPr>
        </a:defPPr>
      </a:lstStyle>
    </a:txDef>
  </a:objectDefaults>
  <a:extraClrSchemeLst>
    <a:extraClrScheme>
      <a:clrScheme name="Larissa-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PT-Vorlage_der_FOM_Stand-Nov2019" id="{ED2EEE41-4544-4C6B-B0A1-0E6610FA7A01}" vid="{71A2FBCD-2AAB-46D1-831B-05C89A0B4C96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b87e725-c9c6-4db6-ab8a-2e50f616407d}" enabled="1" method="Privileged" siteId="{4a99dc2e-6142-461b-95d6-e839b592cfc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PPT-Vorlage_der_FOM_Stand-Nov2019(1)</Template>
  <TotalTime>0</TotalTime>
  <Words>328</Words>
  <Application>Microsoft Office PowerPoint</Application>
  <PresentationFormat>On-screen Show (4:3)</PresentationFormat>
  <Paragraphs>97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Wingdings</vt:lpstr>
      <vt:lpstr>PPT-Vorlage_der_FOM_20170109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Carsten Kotas</dc:creator>
  <cp:lastModifiedBy>Meshan Fernando</cp:lastModifiedBy>
  <cp:revision>15</cp:revision>
  <cp:lastPrinted>2017-05-23T12:11:59Z</cp:lastPrinted>
  <dcterms:created xsi:type="dcterms:W3CDTF">2020-08-03T07:44:53Z</dcterms:created>
  <dcterms:modified xsi:type="dcterms:W3CDTF">2026-08-07T20:16:56Z</dcterms:modified>
  <cp:version>20140523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PPT-Vorlage_der_FOM_20170109:3</vt:lpwstr>
  </property>
  <property fmtid="{D5CDD505-2E9C-101B-9397-08002B2CF9AE}" pid="3" name="ClassificationContentMarkingFooterText">
    <vt:lpwstr>Öffentlich / Public</vt:lpwstr>
  </property>
</Properties>
</file>